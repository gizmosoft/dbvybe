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Montserrat" panose="00000500000000000000" pitchFamily="2" charset="0"/>
      <p:regular r:id="rId13"/>
      <p:bold r:id="rId14"/>
    </p:embeddedFont>
    <p:embeddedFont>
      <p:font typeface="Montserrat Bold" panose="00000800000000000000"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172135" y="2337613"/>
            <a:ext cx="6031608" cy="603160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414845" y="1188931"/>
            <a:ext cx="1991544" cy="199154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3043659" y="4214522"/>
            <a:ext cx="3185721" cy="318572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055315" y="3945528"/>
            <a:ext cx="12177370" cy="1302136"/>
          </a:xfrm>
          <a:prstGeom prst="rect">
            <a:avLst/>
          </a:prstGeom>
        </p:spPr>
        <p:txBody>
          <a:bodyPr lIns="0" tIns="0" rIns="0" bIns="0" rtlCol="0" anchor="t">
            <a:spAutoFit/>
          </a:bodyPr>
          <a:lstStyle/>
          <a:p>
            <a:pPr algn="ctr">
              <a:lnSpc>
                <a:spcPts val="9106"/>
              </a:lnSpc>
            </a:pPr>
            <a:r>
              <a:rPr lang="en-US" sz="11382" b="1">
                <a:solidFill>
                  <a:srgbClr val="240960"/>
                </a:solidFill>
                <a:latin typeface="Montserrat Bold"/>
                <a:ea typeface="Montserrat Bold"/>
                <a:cs typeface="Montserrat Bold"/>
                <a:sym typeface="Montserrat Bold"/>
              </a:rPr>
              <a:t>dbVybe</a:t>
            </a:r>
          </a:p>
        </p:txBody>
      </p:sp>
      <p:grpSp>
        <p:nvGrpSpPr>
          <p:cNvPr id="12" name="Group 12"/>
          <p:cNvGrpSpPr/>
          <p:nvPr/>
        </p:nvGrpSpPr>
        <p:grpSpPr>
          <a:xfrm>
            <a:off x="4163679" y="7797695"/>
            <a:ext cx="884434" cy="88443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2744482" y="1504605"/>
            <a:ext cx="1892038" cy="189203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344946" y="6400189"/>
            <a:ext cx="884434" cy="88443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637067" y="3608432"/>
            <a:ext cx="3070135" cy="307013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5" name="Freeform 25"/>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26" name="Freeform 26"/>
          <p:cNvSpPr/>
          <p:nvPr/>
        </p:nvSpPr>
        <p:spPr>
          <a:xfrm>
            <a:off x="4624236" y="3683357"/>
            <a:ext cx="1564307" cy="1564307"/>
          </a:xfrm>
          <a:custGeom>
            <a:avLst/>
            <a:gdLst/>
            <a:ahLst/>
            <a:cxnLst/>
            <a:rect l="l" t="t" r="r" b="b"/>
            <a:pathLst>
              <a:path w="1564307" h="1564307">
                <a:moveTo>
                  <a:pt x="0" y="0"/>
                </a:moveTo>
                <a:lnTo>
                  <a:pt x="1564307" y="0"/>
                </a:lnTo>
                <a:lnTo>
                  <a:pt x="1564307" y="1564307"/>
                </a:lnTo>
                <a:lnTo>
                  <a:pt x="0" y="1564307"/>
                </a:lnTo>
                <a:lnTo>
                  <a:pt x="0" y="0"/>
                </a:lnTo>
                <a:close/>
              </a:path>
            </a:pathLst>
          </a:custGeom>
          <a:blipFill>
            <a:blip r:embed="rId4"/>
            <a:stretch>
              <a:fillRect/>
            </a:stretch>
          </a:blipFill>
        </p:spPr>
        <p:txBody>
          <a:bodyPr/>
          <a:lstStyle/>
          <a:p>
            <a:endParaRPr lang="en-IN"/>
          </a:p>
        </p:txBody>
      </p:sp>
      <p:sp>
        <p:nvSpPr>
          <p:cNvPr id="27" name="TextBox 27"/>
          <p:cNvSpPr txBox="1"/>
          <p:nvPr/>
        </p:nvSpPr>
        <p:spPr>
          <a:xfrm>
            <a:off x="1751289" y="5542939"/>
            <a:ext cx="14785422" cy="1657990"/>
          </a:xfrm>
          <a:prstGeom prst="rect">
            <a:avLst/>
          </a:prstGeom>
        </p:spPr>
        <p:txBody>
          <a:bodyPr lIns="0" tIns="0" rIns="0" bIns="0" rtlCol="0" anchor="t">
            <a:spAutoFit/>
          </a:bodyPr>
          <a:lstStyle/>
          <a:p>
            <a:pPr algn="ctr">
              <a:lnSpc>
                <a:spcPts val="6160"/>
              </a:lnSpc>
            </a:pPr>
            <a:r>
              <a:rPr lang="en-US" sz="7700">
                <a:solidFill>
                  <a:srgbClr val="240960"/>
                </a:solidFill>
                <a:latin typeface="Montserrat"/>
                <a:ea typeface="Montserrat"/>
                <a:cs typeface="Montserrat"/>
                <a:sym typeface="Montserrat"/>
              </a:rPr>
              <a:t>No-Code, Multi-Agent Database Exploration Tool</a:t>
            </a:r>
          </a:p>
        </p:txBody>
      </p:sp>
      <p:sp>
        <p:nvSpPr>
          <p:cNvPr id="28" name="TextBox 28"/>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
        <p:nvSpPr>
          <p:cNvPr id="29" name="TextBox 29"/>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30" name="TextBox 30"/>
          <p:cNvSpPr txBox="1"/>
          <p:nvPr/>
        </p:nvSpPr>
        <p:spPr>
          <a:xfrm>
            <a:off x="16774314" y="9473025"/>
            <a:ext cx="354591" cy="241692"/>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01</a:t>
            </a:r>
          </a:p>
        </p:txBody>
      </p:sp>
      <p:sp>
        <p:nvSpPr>
          <p:cNvPr id="31" name="TextBox 31"/>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499498" y="2016665"/>
            <a:ext cx="14152523" cy="6891819"/>
            <a:chOff x="0" y="0"/>
            <a:chExt cx="3727414" cy="1815129"/>
          </a:xfrm>
        </p:grpSpPr>
        <p:sp>
          <p:nvSpPr>
            <p:cNvPr id="3" name="Freeform 3"/>
            <p:cNvSpPr/>
            <p:nvPr/>
          </p:nvSpPr>
          <p:spPr>
            <a:xfrm>
              <a:off x="0" y="0"/>
              <a:ext cx="3727414" cy="1815129"/>
            </a:xfrm>
            <a:custGeom>
              <a:avLst/>
              <a:gdLst/>
              <a:ahLst/>
              <a:cxnLst/>
              <a:rect l="l" t="t" r="r" b="b"/>
              <a:pathLst>
                <a:path w="3727414" h="1815129">
                  <a:moveTo>
                    <a:pt x="0" y="0"/>
                  </a:moveTo>
                  <a:lnTo>
                    <a:pt x="3727414" y="0"/>
                  </a:lnTo>
                  <a:lnTo>
                    <a:pt x="3727414" y="1815129"/>
                  </a:lnTo>
                  <a:lnTo>
                    <a:pt x="0" y="1815129"/>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txBody>
            <a:bodyPr/>
            <a:lstStyle/>
            <a:p>
              <a:endParaRPr lang="en-IN"/>
            </a:p>
          </p:txBody>
        </p:sp>
        <p:sp>
          <p:nvSpPr>
            <p:cNvPr id="4" name="TextBox 4"/>
            <p:cNvSpPr txBox="1"/>
            <p:nvPr/>
          </p:nvSpPr>
          <p:spPr>
            <a:xfrm>
              <a:off x="0" y="-38100"/>
              <a:ext cx="3727414" cy="185322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378562" y="1456894"/>
            <a:ext cx="6573048" cy="7451590"/>
            <a:chOff x="0" y="0"/>
            <a:chExt cx="1018337" cy="1154446"/>
          </a:xfrm>
        </p:grpSpPr>
        <p:sp>
          <p:nvSpPr>
            <p:cNvPr id="6" name="Freeform 6"/>
            <p:cNvSpPr/>
            <p:nvPr/>
          </p:nvSpPr>
          <p:spPr>
            <a:xfrm>
              <a:off x="0" y="0"/>
              <a:ext cx="1018337" cy="1154446"/>
            </a:xfrm>
            <a:custGeom>
              <a:avLst/>
              <a:gdLst/>
              <a:ahLst/>
              <a:cxnLst/>
              <a:rect l="l" t="t" r="r" b="b"/>
              <a:pathLst>
                <a:path w="1018337" h="1154446">
                  <a:moveTo>
                    <a:pt x="0" y="0"/>
                  </a:moveTo>
                  <a:lnTo>
                    <a:pt x="1018337" y="0"/>
                  </a:lnTo>
                  <a:lnTo>
                    <a:pt x="1018337" y="1154446"/>
                  </a:lnTo>
                  <a:lnTo>
                    <a:pt x="0" y="1154446"/>
                  </a:lnTo>
                  <a:close/>
                </a:path>
              </a:pathLst>
            </a:custGeom>
            <a:blipFill>
              <a:blip r:embed="rId2"/>
              <a:stretch>
                <a:fillRect l="-6682" r="-6682"/>
              </a:stretch>
            </a:blipFill>
          </p:spPr>
          <p:txBody>
            <a:bodyPr/>
            <a:lstStyle/>
            <a:p>
              <a:endParaRPr lang="en-IN"/>
            </a:p>
          </p:txBody>
        </p:sp>
      </p:grpSp>
      <p:grpSp>
        <p:nvGrpSpPr>
          <p:cNvPr id="7" name="Group 7"/>
          <p:cNvGrpSpPr/>
          <p:nvPr/>
        </p:nvGrpSpPr>
        <p:grpSpPr>
          <a:xfrm>
            <a:off x="10366501" y="6709979"/>
            <a:ext cx="6573048" cy="2241939"/>
            <a:chOff x="0" y="0"/>
            <a:chExt cx="1731173" cy="590470"/>
          </a:xfrm>
        </p:grpSpPr>
        <p:sp>
          <p:nvSpPr>
            <p:cNvPr id="8" name="Freeform 8"/>
            <p:cNvSpPr/>
            <p:nvPr/>
          </p:nvSpPr>
          <p:spPr>
            <a:xfrm>
              <a:off x="0" y="0"/>
              <a:ext cx="1731173" cy="590470"/>
            </a:xfrm>
            <a:custGeom>
              <a:avLst/>
              <a:gdLst/>
              <a:ahLst/>
              <a:cxnLst/>
              <a:rect l="l" t="t" r="r" b="b"/>
              <a:pathLst>
                <a:path w="1731173" h="590470">
                  <a:moveTo>
                    <a:pt x="0" y="0"/>
                  </a:moveTo>
                  <a:lnTo>
                    <a:pt x="1731173" y="0"/>
                  </a:lnTo>
                  <a:lnTo>
                    <a:pt x="1731173" y="590470"/>
                  </a:lnTo>
                  <a:lnTo>
                    <a:pt x="0" y="590470"/>
                  </a:lnTo>
                  <a:close/>
                </a:path>
              </a:pathLst>
            </a:custGeom>
            <a:gradFill rotWithShape="1">
              <a:gsLst>
                <a:gs pos="0">
                  <a:srgbClr val="F7ACFF">
                    <a:alpha val="0"/>
                  </a:srgbClr>
                </a:gs>
                <a:gs pos="100000">
                  <a:srgbClr val="3C67BF">
                    <a:alpha val="100000"/>
                  </a:srgbClr>
                </a:gs>
              </a:gsLst>
              <a:lin ang="5400000"/>
            </a:gradFill>
          </p:spPr>
          <p:txBody>
            <a:bodyPr/>
            <a:lstStyle/>
            <a:p>
              <a:endParaRPr lang="en-IN"/>
            </a:p>
          </p:txBody>
        </p:sp>
        <p:sp>
          <p:nvSpPr>
            <p:cNvPr id="9" name="TextBox 9"/>
            <p:cNvSpPr txBox="1"/>
            <p:nvPr/>
          </p:nvSpPr>
          <p:spPr>
            <a:xfrm>
              <a:off x="0" y="-38100"/>
              <a:ext cx="1731173" cy="62857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5758233" y="2306583"/>
            <a:ext cx="1892038" cy="189203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7830949"/>
            <a:ext cx="2155070" cy="215507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00540" y="1693375"/>
            <a:ext cx="1256320" cy="125632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39549" y="2212922"/>
            <a:ext cx="1256320" cy="125632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656860" y="3216406"/>
            <a:ext cx="5886282" cy="772394"/>
          </a:xfrm>
          <a:prstGeom prst="rect">
            <a:avLst/>
          </a:prstGeom>
        </p:spPr>
        <p:txBody>
          <a:bodyPr lIns="0" tIns="0" rIns="0" bIns="0" rtlCol="0" anchor="t">
            <a:spAutoFit/>
          </a:bodyPr>
          <a:lstStyle/>
          <a:p>
            <a:pPr algn="l">
              <a:lnSpc>
                <a:spcPts val="5467"/>
              </a:lnSpc>
            </a:pPr>
            <a:r>
              <a:rPr lang="en-US" sz="6833" b="1">
                <a:solidFill>
                  <a:srgbClr val="240960"/>
                </a:solidFill>
                <a:latin typeface="Montserrat Bold"/>
                <a:ea typeface="Montserrat Bold"/>
                <a:cs typeface="Montserrat Bold"/>
                <a:sym typeface="Montserrat Bold"/>
              </a:rPr>
              <a:t>Problem</a:t>
            </a:r>
          </a:p>
        </p:txBody>
      </p:sp>
      <p:sp>
        <p:nvSpPr>
          <p:cNvPr id="23" name="TextBox 23"/>
          <p:cNvSpPr txBox="1"/>
          <p:nvPr/>
        </p:nvSpPr>
        <p:spPr>
          <a:xfrm>
            <a:off x="1556913" y="3945774"/>
            <a:ext cx="7310908" cy="772394"/>
          </a:xfrm>
          <a:prstGeom prst="rect">
            <a:avLst/>
          </a:prstGeom>
        </p:spPr>
        <p:txBody>
          <a:bodyPr lIns="0" tIns="0" rIns="0" bIns="0" rtlCol="0" anchor="t">
            <a:spAutoFit/>
          </a:bodyPr>
          <a:lstStyle/>
          <a:p>
            <a:pPr algn="l">
              <a:lnSpc>
                <a:spcPts val="5467"/>
              </a:lnSpc>
            </a:pPr>
            <a:r>
              <a:rPr lang="en-US" sz="6833">
                <a:solidFill>
                  <a:srgbClr val="240960"/>
                </a:solidFill>
                <a:latin typeface="Montserrat"/>
                <a:ea typeface="Montserrat"/>
                <a:cs typeface="Montserrat"/>
                <a:sym typeface="Montserrat"/>
              </a:rPr>
              <a:t>Statement</a:t>
            </a:r>
          </a:p>
        </p:txBody>
      </p:sp>
      <p:sp>
        <p:nvSpPr>
          <p:cNvPr id="24" name="TextBox 24"/>
          <p:cNvSpPr txBox="1"/>
          <p:nvPr/>
        </p:nvSpPr>
        <p:spPr>
          <a:xfrm>
            <a:off x="1656860" y="4978117"/>
            <a:ext cx="7307704" cy="3359599"/>
          </a:xfrm>
          <a:prstGeom prst="rect">
            <a:avLst/>
          </a:prstGeom>
        </p:spPr>
        <p:txBody>
          <a:bodyPr lIns="0" tIns="0" rIns="0" bIns="0" rtlCol="0" anchor="t">
            <a:spAutoFit/>
          </a:bodyPr>
          <a:lstStyle/>
          <a:p>
            <a:pPr algn="just">
              <a:lnSpc>
                <a:spcPts val="2442"/>
              </a:lnSpc>
            </a:pPr>
            <a:r>
              <a:rPr lang="en-US" sz="2142" dirty="0">
                <a:solidFill>
                  <a:srgbClr val="240960"/>
                </a:solidFill>
                <a:latin typeface="Montserrat"/>
                <a:ea typeface="Montserrat"/>
                <a:cs typeface="Montserrat"/>
                <a:sym typeface="Montserrat"/>
              </a:rPr>
              <a:t>Database exploration is a critical aspect of managing and maintaining any system’s data. Simply having a database is not enough, organizations must be able to understand, navigate, and interpret the information it contains. However, most database systems require significant technical expertise to explore and analyze data effectively. This presents a challenge for business owners, stakeholders, and clients without a technical background, making data-driven decision-making more difficult and less accessible.</a:t>
            </a:r>
          </a:p>
        </p:txBody>
      </p:sp>
      <p:sp>
        <p:nvSpPr>
          <p:cNvPr id="25" name="TextBox 25"/>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26" name="TextBox 26"/>
          <p:cNvSpPr txBox="1"/>
          <p:nvPr/>
        </p:nvSpPr>
        <p:spPr>
          <a:xfrm>
            <a:off x="16774314" y="9473025"/>
            <a:ext cx="354591" cy="241692"/>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02</a:t>
            </a:r>
          </a:p>
        </p:txBody>
      </p:sp>
      <p:sp>
        <p:nvSpPr>
          <p:cNvPr id="27" name="Freeform 27"/>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8" name="TextBox 28"/>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29" name="Freeform 29"/>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5"/>
            <a:stretch>
              <a:fillRect/>
            </a:stretch>
          </a:blipFill>
        </p:spPr>
        <p:txBody>
          <a:bodyPr/>
          <a:lstStyle/>
          <a:p>
            <a:endParaRPr lang="en-IN"/>
          </a:p>
        </p:txBody>
      </p:sp>
      <p:sp>
        <p:nvSpPr>
          <p:cNvPr id="30" name="TextBox 30"/>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7275947" y="-496215"/>
            <a:ext cx="11264060" cy="11375654"/>
            <a:chOff x="0" y="0"/>
            <a:chExt cx="2966666" cy="2996057"/>
          </a:xfrm>
        </p:grpSpPr>
        <p:sp>
          <p:nvSpPr>
            <p:cNvPr id="3" name="Freeform 3"/>
            <p:cNvSpPr/>
            <p:nvPr/>
          </p:nvSpPr>
          <p:spPr>
            <a:xfrm>
              <a:off x="0" y="0"/>
              <a:ext cx="2966666" cy="2996057"/>
            </a:xfrm>
            <a:custGeom>
              <a:avLst/>
              <a:gdLst/>
              <a:ahLst/>
              <a:cxnLst/>
              <a:rect l="l" t="t" r="r" b="b"/>
              <a:pathLst>
                <a:path w="2966666" h="2996057">
                  <a:moveTo>
                    <a:pt x="0" y="0"/>
                  </a:moveTo>
                  <a:lnTo>
                    <a:pt x="2966666" y="0"/>
                  </a:lnTo>
                  <a:lnTo>
                    <a:pt x="2966666" y="2996057"/>
                  </a:lnTo>
                  <a:lnTo>
                    <a:pt x="0" y="2996057"/>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txBody>
            <a:bodyPr/>
            <a:lstStyle/>
            <a:p>
              <a:endParaRPr lang="en-IN"/>
            </a:p>
          </p:txBody>
        </p:sp>
        <p:sp>
          <p:nvSpPr>
            <p:cNvPr id="4" name="TextBox 4"/>
            <p:cNvSpPr txBox="1"/>
            <p:nvPr/>
          </p:nvSpPr>
          <p:spPr>
            <a:xfrm>
              <a:off x="0" y="-38100"/>
              <a:ext cx="2966666" cy="303415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154546" y="-1328013"/>
            <a:ext cx="5214383" cy="521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a:grpSpLocks noChangeAspect="1"/>
          </p:cNvGrpSpPr>
          <p:nvPr/>
        </p:nvGrpSpPr>
        <p:grpSpPr>
          <a:xfrm>
            <a:off x="2300919" y="2512019"/>
            <a:ext cx="5878438" cy="5878438"/>
            <a:chOff x="0" y="0"/>
            <a:chExt cx="14840029" cy="14840029"/>
          </a:xfrm>
        </p:grpSpPr>
        <p:sp>
          <p:nvSpPr>
            <p:cNvPr id="9" name="Freeform 9"/>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5B45B5">
                    <a:alpha val="100000"/>
                  </a:srgbClr>
                </a:gs>
                <a:gs pos="100000">
                  <a:srgbClr val="8875D7">
                    <a:alpha val="100000"/>
                  </a:srgbClr>
                </a:gs>
              </a:gsLst>
              <a:lin ang="0"/>
            </a:gradFill>
          </p:spPr>
          <p:txBody>
            <a:bodyPr/>
            <a:lstStyle/>
            <a:p>
              <a:endParaRPr lang="en-IN"/>
            </a:p>
          </p:txBody>
        </p:sp>
        <p:sp>
          <p:nvSpPr>
            <p:cNvPr id="10" name="Freeform 10"/>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txBody>
            <a:bodyPr/>
            <a:lstStyle/>
            <a:p>
              <a:endParaRPr lang="en-IN"/>
            </a:p>
          </p:txBody>
        </p:sp>
        <p:sp>
          <p:nvSpPr>
            <p:cNvPr id="11" name="Freeform 11"/>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4801" r="-24801"/>
              </a:stretch>
            </a:blipFill>
          </p:spPr>
          <p:txBody>
            <a:bodyPr/>
            <a:lstStyle/>
            <a:p>
              <a:endParaRPr lang="en-IN"/>
            </a:p>
          </p:txBody>
        </p:sp>
      </p:grpSp>
      <p:sp>
        <p:nvSpPr>
          <p:cNvPr id="12" name="TextBox 12"/>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13" name="TextBox 13"/>
          <p:cNvSpPr txBox="1"/>
          <p:nvPr/>
        </p:nvSpPr>
        <p:spPr>
          <a:xfrm>
            <a:off x="16774314" y="9473025"/>
            <a:ext cx="354591" cy="241692"/>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03</a:t>
            </a:r>
          </a:p>
        </p:txBody>
      </p:sp>
      <p:sp>
        <p:nvSpPr>
          <p:cNvPr id="14" name="TextBox 14"/>
          <p:cNvSpPr txBox="1"/>
          <p:nvPr/>
        </p:nvSpPr>
        <p:spPr>
          <a:xfrm>
            <a:off x="9101383" y="2259172"/>
            <a:ext cx="3806594" cy="772394"/>
          </a:xfrm>
          <a:prstGeom prst="rect">
            <a:avLst/>
          </a:prstGeom>
        </p:spPr>
        <p:txBody>
          <a:bodyPr lIns="0" tIns="0" rIns="0" bIns="0" rtlCol="0" anchor="t">
            <a:spAutoFit/>
          </a:bodyPr>
          <a:lstStyle/>
          <a:p>
            <a:pPr algn="l">
              <a:lnSpc>
                <a:spcPts val="5467"/>
              </a:lnSpc>
            </a:pPr>
            <a:r>
              <a:rPr lang="en-US" sz="6833" b="1">
                <a:solidFill>
                  <a:srgbClr val="240960"/>
                </a:solidFill>
                <a:latin typeface="Montserrat Bold"/>
                <a:ea typeface="Montserrat Bold"/>
                <a:cs typeface="Montserrat Bold"/>
                <a:sym typeface="Montserrat Bold"/>
              </a:rPr>
              <a:t>Solution</a:t>
            </a:r>
          </a:p>
        </p:txBody>
      </p:sp>
      <p:sp>
        <p:nvSpPr>
          <p:cNvPr id="15" name="TextBox 15"/>
          <p:cNvSpPr txBox="1"/>
          <p:nvPr/>
        </p:nvSpPr>
        <p:spPr>
          <a:xfrm>
            <a:off x="9063283" y="2988550"/>
            <a:ext cx="7310908" cy="772394"/>
          </a:xfrm>
          <a:prstGeom prst="rect">
            <a:avLst/>
          </a:prstGeom>
        </p:spPr>
        <p:txBody>
          <a:bodyPr lIns="0" tIns="0" rIns="0" bIns="0" rtlCol="0" anchor="t">
            <a:spAutoFit/>
          </a:bodyPr>
          <a:lstStyle/>
          <a:p>
            <a:pPr algn="l">
              <a:lnSpc>
                <a:spcPts val="5467"/>
              </a:lnSpc>
            </a:pPr>
            <a:r>
              <a:rPr lang="en-US" sz="6833">
                <a:solidFill>
                  <a:srgbClr val="240960"/>
                </a:solidFill>
                <a:latin typeface="Montserrat"/>
                <a:ea typeface="Montserrat"/>
                <a:cs typeface="Montserrat"/>
                <a:sym typeface="Montserrat"/>
              </a:rPr>
              <a:t>to the Challenge</a:t>
            </a:r>
          </a:p>
        </p:txBody>
      </p:sp>
      <p:grpSp>
        <p:nvGrpSpPr>
          <p:cNvPr id="16" name="Group 16"/>
          <p:cNvGrpSpPr>
            <a:grpSpLocks noChangeAspect="1"/>
          </p:cNvGrpSpPr>
          <p:nvPr/>
        </p:nvGrpSpPr>
        <p:grpSpPr>
          <a:xfrm>
            <a:off x="1349938" y="5907599"/>
            <a:ext cx="3038039" cy="3038039"/>
            <a:chOff x="0" y="0"/>
            <a:chExt cx="14840029" cy="14840029"/>
          </a:xfrm>
        </p:grpSpPr>
        <p:sp>
          <p:nvSpPr>
            <p:cNvPr id="17" name="Freeform 17"/>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1">
              <a:gsLst>
                <a:gs pos="0">
                  <a:srgbClr val="3C67BF">
                    <a:alpha val="100000"/>
                  </a:srgbClr>
                </a:gs>
                <a:gs pos="100000">
                  <a:srgbClr val="F7ACFF">
                    <a:alpha val="100000"/>
                  </a:srgbClr>
                </a:gs>
              </a:gsLst>
              <a:lin ang="0"/>
            </a:gradFill>
          </p:spPr>
          <p:txBody>
            <a:bodyPr/>
            <a:lstStyle/>
            <a:p>
              <a:endParaRPr lang="en-IN"/>
            </a:p>
          </p:txBody>
        </p:sp>
        <p:sp>
          <p:nvSpPr>
            <p:cNvPr id="18" name="Freeform 18"/>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txBody>
            <a:bodyPr/>
            <a:lstStyle/>
            <a:p>
              <a:endParaRPr lang="en-IN"/>
            </a:p>
          </p:txBody>
        </p:sp>
        <p:sp>
          <p:nvSpPr>
            <p:cNvPr id="19" name="Freeform 19"/>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223" r="223"/>
              </a:stretch>
            </a:blipFill>
          </p:spPr>
          <p:txBody>
            <a:bodyPr/>
            <a:lstStyle/>
            <a:p>
              <a:endParaRPr lang="en-IN"/>
            </a:p>
          </p:txBody>
        </p:sp>
      </p:grpSp>
      <p:grpSp>
        <p:nvGrpSpPr>
          <p:cNvPr id="20" name="Group 20"/>
          <p:cNvGrpSpPr/>
          <p:nvPr/>
        </p:nvGrpSpPr>
        <p:grpSpPr>
          <a:xfrm>
            <a:off x="-908020" y="7636544"/>
            <a:ext cx="4721330" cy="472133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9640701" y="5128802"/>
            <a:ext cx="7133612" cy="2749999"/>
          </a:xfrm>
          <a:prstGeom prst="rect">
            <a:avLst/>
          </a:prstGeom>
        </p:spPr>
        <p:txBody>
          <a:bodyPr lIns="0" tIns="0" rIns="0" bIns="0" rtlCol="0" anchor="t">
            <a:spAutoFit/>
          </a:bodyPr>
          <a:lstStyle/>
          <a:p>
            <a:pPr algn="just">
              <a:lnSpc>
                <a:spcPts val="2442"/>
              </a:lnSpc>
            </a:pPr>
            <a:r>
              <a:rPr lang="en-US" sz="2142" dirty="0">
                <a:solidFill>
                  <a:srgbClr val="240960"/>
                </a:solidFill>
                <a:latin typeface="Montserrat"/>
                <a:ea typeface="Montserrat"/>
                <a:cs typeface="Montserrat"/>
                <a:sym typeface="Montserrat"/>
              </a:rPr>
              <a:t>A </a:t>
            </a:r>
            <a:r>
              <a:rPr lang="en-US" sz="2142" b="1" dirty="0">
                <a:solidFill>
                  <a:srgbClr val="240960"/>
                </a:solidFill>
                <a:latin typeface="Montserrat Bold"/>
                <a:ea typeface="Montserrat Bold"/>
                <a:cs typeface="Montserrat Bold"/>
                <a:sym typeface="Montserrat Bold"/>
              </a:rPr>
              <a:t>no-code, multi-agent database exploration tool</a:t>
            </a:r>
            <a:r>
              <a:rPr lang="en-US" sz="2142" dirty="0">
                <a:solidFill>
                  <a:srgbClr val="240960"/>
                </a:solidFill>
                <a:latin typeface="Montserrat"/>
                <a:ea typeface="Montserrat"/>
                <a:cs typeface="Montserrat"/>
                <a:sym typeface="Montserrat"/>
              </a:rPr>
              <a:t> which allows users to connect a database of their choice and explore it using natural language</a:t>
            </a:r>
          </a:p>
          <a:p>
            <a:pPr algn="just">
              <a:lnSpc>
                <a:spcPts val="2442"/>
              </a:lnSpc>
            </a:pPr>
            <a:endParaRPr lang="en-US" sz="2142" dirty="0">
              <a:solidFill>
                <a:srgbClr val="240960"/>
              </a:solidFill>
              <a:latin typeface="Montserrat"/>
              <a:ea typeface="Montserrat"/>
              <a:cs typeface="Montserrat"/>
              <a:sym typeface="Montserrat"/>
            </a:endParaRPr>
          </a:p>
          <a:p>
            <a:pPr algn="just">
              <a:lnSpc>
                <a:spcPts val="2442"/>
              </a:lnSpc>
            </a:pPr>
            <a:r>
              <a:rPr lang="en-US" sz="2142" dirty="0">
                <a:solidFill>
                  <a:srgbClr val="240960"/>
                </a:solidFill>
                <a:latin typeface="Montserrat"/>
                <a:ea typeface="Montserrat"/>
                <a:cs typeface="Montserrat"/>
                <a:sym typeface="Montserrat"/>
              </a:rPr>
              <a:t>By eliminating the need for technical expertise, it empowers users from all backgrounds to seamlessly explore, query, and analyze their data, making insights accessible without prior database or query language knowledge.</a:t>
            </a:r>
          </a:p>
        </p:txBody>
      </p:sp>
      <p:sp>
        <p:nvSpPr>
          <p:cNvPr id="24" name="TextBox 24"/>
          <p:cNvSpPr txBox="1"/>
          <p:nvPr/>
        </p:nvSpPr>
        <p:spPr>
          <a:xfrm>
            <a:off x="9640701" y="4692465"/>
            <a:ext cx="4272000" cy="312551"/>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Presenting dbVybe</a:t>
            </a:r>
          </a:p>
        </p:txBody>
      </p:sp>
      <p:sp>
        <p:nvSpPr>
          <p:cNvPr id="25" name="Freeform 25"/>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6" name="TextBox 26"/>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27" name="Freeform 27"/>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3"/>
            <a:stretch>
              <a:fillRect/>
            </a:stretch>
          </a:blipFill>
        </p:spPr>
        <p:txBody>
          <a:bodyPr/>
          <a:lstStyle/>
          <a:p>
            <a:endParaRPr lang="en-IN"/>
          </a:p>
        </p:txBody>
      </p:sp>
      <p:sp>
        <p:nvSpPr>
          <p:cNvPr id="28" name="TextBox 28"/>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432325" y="2246485"/>
            <a:ext cx="19795102" cy="6320087"/>
            <a:chOff x="0" y="0"/>
            <a:chExt cx="5213525" cy="1664550"/>
          </a:xfrm>
        </p:grpSpPr>
        <p:sp>
          <p:nvSpPr>
            <p:cNvPr id="3" name="Freeform 3"/>
            <p:cNvSpPr/>
            <p:nvPr/>
          </p:nvSpPr>
          <p:spPr>
            <a:xfrm>
              <a:off x="0" y="0"/>
              <a:ext cx="5213525" cy="1664550"/>
            </a:xfrm>
            <a:custGeom>
              <a:avLst/>
              <a:gdLst/>
              <a:ahLst/>
              <a:cxnLst/>
              <a:rect l="l" t="t" r="r" b="b"/>
              <a:pathLst>
                <a:path w="5213525" h="1664550">
                  <a:moveTo>
                    <a:pt x="0" y="0"/>
                  </a:moveTo>
                  <a:lnTo>
                    <a:pt x="5213525" y="0"/>
                  </a:lnTo>
                  <a:lnTo>
                    <a:pt x="5213525" y="1664550"/>
                  </a:lnTo>
                  <a:lnTo>
                    <a:pt x="0" y="1664550"/>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txBody>
            <a:bodyPr/>
            <a:lstStyle/>
            <a:p>
              <a:endParaRPr lang="en-IN"/>
            </a:p>
          </p:txBody>
        </p:sp>
        <p:sp>
          <p:nvSpPr>
            <p:cNvPr id="4" name="TextBox 4"/>
            <p:cNvSpPr txBox="1"/>
            <p:nvPr/>
          </p:nvSpPr>
          <p:spPr>
            <a:xfrm>
              <a:off x="0" y="-38100"/>
              <a:ext cx="5213525" cy="1702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97420" y="2688210"/>
            <a:ext cx="17568356" cy="5437174"/>
            <a:chOff x="0" y="0"/>
            <a:chExt cx="4627057" cy="1432013"/>
          </a:xfrm>
        </p:grpSpPr>
        <p:sp>
          <p:nvSpPr>
            <p:cNvPr id="6" name="Freeform 6"/>
            <p:cNvSpPr/>
            <p:nvPr/>
          </p:nvSpPr>
          <p:spPr>
            <a:xfrm>
              <a:off x="0" y="0"/>
              <a:ext cx="4627057" cy="1432013"/>
            </a:xfrm>
            <a:custGeom>
              <a:avLst/>
              <a:gdLst/>
              <a:ahLst/>
              <a:cxnLst/>
              <a:rect l="l" t="t" r="r" b="b"/>
              <a:pathLst>
                <a:path w="4627057" h="1432013">
                  <a:moveTo>
                    <a:pt x="0" y="0"/>
                  </a:moveTo>
                  <a:lnTo>
                    <a:pt x="4627057" y="0"/>
                  </a:lnTo>
                  <a:lnTo>
                    <a:pt x="4627057" y="1432013"/>
                  </a:lnTo>
                  <a:lnTo>
                    <a:pt x="0" y="1432013"/>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txBody>
            <a:bodyPr/>
            <a:lstStyle/>
            <a:p>
              <a:endParaRPr lang="en-IN"/>
            </a:p>
          </p:txBody>
        </p:sp>
        <p:sp>
          <p:nvSpPr>
            <p:cNvPr id="7" name="TextBox 7"/>
            <p:cNvSpPr txBox="1"/>
            <p:nvPr/>
          </p:nvSpPr>
          <p:spPr>
            <a:xfrm>
              <a:off x="0" y="-38100"/>
              <a:ext cx="4627057" cy="147011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43958" y="3992808"/>
            <a:ext cx="1256320" cy="125632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0475165" y="7653473"/>
            <a:ext cx="1256320" cy="125632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15" name="TextBox 15"/>
          <p:cNvSpPr txBox="1"/>
          <p:nvPr/>
        </p:nvSpPr>
        <p:spPr>
          <a:xfrm>
            <a:off x="16774314" y="9473025"/>
            <a:ext cx="484986" cy="241692"/>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04</a:t>
            </a:r>
          </a:p>
        </p:txBody>
      </p:sp>
      <p:sp>
        <p:nvSpPr>
          <p:cNvPr id="16" name="TextBox 16"/>
          <p:cNvSpPr txBox="1"/>
          <p:nvPr/>
        </p:nvSpPr>
        <p:spPr>
          <a:xfrm>
            <a:off x="1878187" y="4525963"/>
            <a:ext cx="7310908" cy="772394"/>
          </a:xfrm>
          <a:prstGeom prst="rect">
            <a:avLst/>
          </a:prstGeom>
        </p:spPr>
        <p:txBody>
          <a:bodyPr lIns="0" tIns="0" rIns="0" bIns="0" rtlCol="0" anchor="t">
            <a:spAutoFit/>
          </a:bodyPr>
          <a:lstStyle/>
          <a:p>
            <a:pPr algn="l">
              <a:lnSpc>
                <a:spcPts val="5467"/>
              </a:lnSpc>
            </a:pPr>
            <a:r>
              <a:rPr lang="en-US" sz="6833" b="1">
                <a:solidFill>
                  <a:srgbClr val="240960"/>
                </a:solidFill>
                <a:latin typeface="Montserrat Bold"/>
                <a:ea typeface="Montserrat Bold"/>
                <a:cs typeface="Montserrat Bold"/>
                <a:sym typeface="Montserrat Bold"/>
              </a:rPr>
              <a:t>Technical</a:t>
            </a:r>
          </a:p>
        </p:txBody>
      </p:sp>
      <p:sp>
        <p:nvSpPr>
          <p:cNvPr id="17" name="TextBox 17"/>
          <p:cNvSpPr txBox="1"/>
          <p:nvPr/>
        </p:nvSpPr>
        <p:spPr>
          <a:xfrm>
            <a:off x="1840087" y="5255342"/>
            <a:ext cx="7310908" cy="772394"/>
          </a:xfrm>
          <a:prstGeom prst="rect">
            <a:avLst/>
          </a:prstGeom>
        </p:spPr>
        <p:txBody>
          <a:bodyPr lIns="0" tIns="0" rIns="0" bIns="0" rtlCol="0" anchor="t">
            <a:spAutoFit/>
          </a:bodyPr>
          <a:lstStyle/>
          <a:p>
            <a:pPr algn="l">
              <a:lnSpc>
                <a:spcPts val="5467"/>
              </a:lnSpc>
            </a:pPr>
            <a:r>
              <a:rPr lang="en-US" sz="6833">
                <a:solidFill>
                  <a:srgbClr val="240960"/>
                </a:solidFill>
                <a:latin typeface="Montserrat"/>
                <a:ea typeface="Montserrat"/>
                <a:cs typeface="Montserrat"/>
                <a:sym typeface="Montserrat"/>
              </a:rPr>
              <a:t>Nuances</a:t>
            </a:r>
          </a:p>
        </p:txBody>
      </p:sp>
      <p:sp>
        <p:nvSpPr>
          <p:cNvPr id="18" name="TextBox 18"/>
          <p:cNvSpPr txBox="1"/>
          <p:nvPr/>
        </p:nvSpPr>
        <p:spPr>
          <a:xfrm>
            <a:off x="7627842" y="4177815"/>
            <a:ext cx="8157462" cy="2291518"/>
          </a:xfrm>
          <a:prstGeom prst="rect">
            <a:avLst/>
          </a:prstGeom>
        </p:spPr>
        <p:txBody>
          <a:bodyPr lIns="0" tIns="0" rIns="0" bIns="0" rtlCol="0" anchor="t">
            <a:spAutoFit/>
          </a:bodyPr>
          <a:lstStyle/>
          <a:p>
            <a:pPr marL="426229" lvl="1" indent="-213114" algn="l">
              <a:lnSpc>
                <a:spcPts val="2250"/>
              </a:lnSpc>
              <a:buFont typeface="Arial"/>
              <a:buChar char="•"/>
            </a:pPr>
            <a:r>
              <a:rPr lang="en-US" sz="1974" dirty="0">
                <a:solidFill>
                  <a:srgbClr val="240960"/>
                </a:solidFill>
                <a:latin typeface="Montserrat"/>
                <a:ea typeface="Montserrat"/>
                <a:cs typeface="Montserrat"/>
                <a:sym typeface="Montserrat"/>
              </a:rPr>
              <a:t>Distributed architecture using </a:t>
            </a:r>
            <a:r>
              <a:rPr lang="en-US" sz="1974" b="1" dirty="0">
                <a:solidFill>
                  <a:srgbClr val="240960"/>
                </a:solidFill>
                <a:latin typeface="Montserrat Bold"/>
                <a:ea typeface="Montserrat Bold"/>
                <a:cs typeface="Montserrat Bold"/>
                <a:sym typeface="Montserrat Bold"/>
              </a:rPr>
              <a:t>Akka Cluster</a:t>
            </a:r>
            <a:r>
              <a:rPr lang="en-US" sz="1974" dirty="0">
                <a:solidFill>
                  <a:srgbClr val="240960"/>
                </a:solidFill>
                <a:latin typeface="Montserrat"/>
                <a:ea typeface="Montserrat"/>
                <a:cs typeface="Montserrat"/>
                <a:sym typeface="Montserrat"/>
              </a:rPr>
              <a:t> with </a:t>
            </a:r>
            <a:r>
              <a:rPr lang="en-US" sz="1974" b="1" dirty="0">
                <a:solidFill>
                  <a:srgbClr val="240960"/>
                </a:solidFill>
                <a:latin typeface="Montserrat Bold"/>
                <a:ea typeface="Montserrat Bold"/>
                <a:cs typeface="Montserrat Bold"/>
                <a:sym typeface="Montserrat Bold"/>
              </a:rPr>
              <a:t>3 specialized nodes</a:t>
            </a:r>
          </a:p>
          <a:p>
            <a:pPr marL="426229" lvl="1" indent="-213114" algn="l">
              <a:lnSpc>
                <a:spcPts val="2250"/>
              </a:lnSpc>
              <a:buFont typeface="Arial"/>
              <a:buChar char="•"/>
            </a:pPr>
            <a:r>
              <a:rPr lang="en-US" sz="1974" b="1" dirty="0">
                <a:solidFill>
                  <a:srgbClr val="240960"/>
                </a:solidFill>
                <a:latin typeface="Montserrat Bold"/>
                <a:ea typeface="Montserrat Bold"/>
                <a:cs typeface="Montserrat Bold"/>
                <a:sym typeface="Montserrat Bold"/>
              </a:rPr>
              <a:t>Java Spring Boot </a:t>
            </a:r>
            <a:r>
              <a:rPr lang="en-US" sz="1974" dirty="0">
                <a:solidFill>
                  <a:srgbClr val="240960"/>
                </a:solidFill>
                <a:latin typeface="Montserrat"/>
                <a:ea typeface="Montserrat"/>
                <a:cs typeface="Montserrat"/>
                <a:sym typeface="Montserrat"/>
              </a:rPr>
              <a:t>web framework for REST API implementation</a:t>
            </a:r>
          </a:p>
          <a:p>
            <a:pPr marL="426229" lvl="1" indent="-213114" algn="l">
              <a:lnSpc>
                <a:spcPts val="2250"/>
              </a:lnSpc>
              <a:buFont typeface="Arial"/>
              <a:buChar char="•"/>
            </a:pPr>
            <a:r>
              <a:rPr lang="en-US" sz="1974" b="1" dirty="0">
                <a:solidFill>
                  <a:srgbClr val="240960"/>
                </a:solidFill>
                <a:latin typeface="Montserrat Bold"/>
                <a:ea typeface="Montserrat Bold"/>
                <a:cs typeface="Montserrat Bold"/>
                <a:sym typeface="Montserrat Bold"/>
              </a:rPr>
              <a:t>React </a:t>
            </a:r>
            <a:r>
              <a:rPr lang="en-US" sz="1974" dirty="0">
                <a:solidFill>
                  <a:srgbClr val="240960"/>
                </a:solidFill>
                <a:latin typeface="Montserrat"/>
                <a:ea typeface="Montserrat"/>
                <a:cs typeface="Montserrat"/>
                <a:sym typeface="Montserrat"/>
              </a:rPr>
              <a:t>and </a:t>
            </a:r>
            <a:r>
              <a:rPr lang="en-US" sz="1974" b="1" dirty="0">
                <a:solidFill>
                  <a:srgbClr val="240960"/>
                </a:solidFill>
                <a:latin typeface="Montserrat Bold"/>
                <a:ea typeface="Montserrat Bold"/>
                <a:cs typeface="Montserrat Bold"/>
                <a:sym typeface="Montserrat Bold"/>
              </a:rPr>
              <a:t>Typescript </a:t>
            </a:r>
            <a:r>
              <a:rPr lang="en-US" sz="1974" dirty="0">
                <a:solidFill>
                  <a:srgbClr val="240960"/>
                </a:solidFill>
                <a:latin typeface="Montserrat"/>
                <a:ea typeface="Montserrat"/>
                <a:cs typeface="Montserrat"/>
                <a:sym typeface="Montserrat"/>
              </a:rPr>
              <a:t>for frontend</a:t>
            </a:r>
          </a:p>
          <a:p>
            <a:pPr marL="426229" lvl="1" indent="-213114" algn="l">
              <a:lnSpc>
                <a:spcPts val="2250"/>
              </a:lnSpc>
              <a:buFont typeface="Arial"/>
              <a:buChar char="•"/>
            </a:pPr>
            <a:r>
              <a:rPr lang="en-US" sz="1974" b="1" dirty="0">
                <a:solidFill>
                  <a:srgbClr val="240960"/>
                </a:solidFill>
                <a:latin typeface="Montserrat Bold"/>
                <a:ea typeface="Montserrat Bold"/>
                <a:cs typeface="Montserrat Bold"/>
                <a:sym typeface="Montserrat Bold"/>
              </a:rPr>
              <a:t>Akka Actor Model</a:t>
            </a:r>
            <a:r>
              <a:rPr lang="en-US" sz="1974" dirty="0">
                <a:solidFill>
                  <a:srgbClr val="240960"/>
                </a:solidFill>
                <a:latin typeface="Montserrat"/>
                <a:ea typeface="Montserrat"/>
                <a:cs typeface="Montserrat"/>
                <a:sym typeface="Montserrat"/>
              </a:rPr>
              <a:t> for concurrency</a:t>
            </a:r>
          </a:p>
          <a:p>
            <a:pPr marL="426229" lvl="1" indent="-213114" algn="l">
              <a:lnSpc>
                <a:spcPts val="2250"/>
              </a:lnSpc>
              <a:buFont typeface="Arial"/>
              <a:buChar char="•"/>
            </a:pPr>
            <a:r>
              <a:rPr lang="en-US" sz="1974" b="1" dirty="0">
                <a:solidFill>
                  <a:srgbClr val="240960"/>
                </a:solidFill>
                <a:latin typeface="Montserrat Bold"/>
                <a:ea typeface="Montserrat Bold"/>
                <a:cs typeface="Montserrat Bold"/>
                <a:sym typeface="Montserrat Bold"/>
              </a:rPr>
              <a:t>Multi-Agent System</a:t>
            </a:r>
            <a:r>
              <a:rPr lang="en-US" sz="1974" dirty="0">
                <a:solidFill>
                  <a:srgbClr val="240960"/>
                </a:solidFill>
                <a:latin typeface="Montserrat"/>
                <a:ea typeface="Montserrat"/>
                <a:cs typeface="Montserrat"/>
                <a:sym typeface="Montserrat"/>
              </a:rPr>
              <a:t> for intelligent tool usage and database operations</a:t>
            </a:r>
          </a:p>
        </p:txBody>
      </p:sp>
      <p:sp>
        <p:nvSpPr>
          <p:cNvPr id="19" name="TextBox 19"/>
          <p:cNvSpPr txBox="1"/>
          <p:nvPr/>
        </p:nvSpPr>
        <p:spPr>
          <a:xfrm>
            <a:off x="7627842" y="3615371"/>
            <a:ext cx="5889449" cy="312551"/>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Architecture Overview</a:t>
            </a:r>
          </a:p>
        </p:txBody>
      </p:sp>
      <p:grpSp>
        <p:nvGrpSpPr>
          <p:cNvPr id="20" name="Group 20"/>
          <p:cNvGrpSpPr/>
          <p:nvPr/>
        </p:nvGrpSpPr>
        <p:grpSpPr>
          <a:xfrm>
            <a:off x="7524578" y="990165"/>
            <a:ext cx="1256320" cy="125632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5102279" y="-313682"/>
            <a:ext cx="3185721" cy="318572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7403566" y="1871985"/>
            <a:ext cx="884434" cy="88443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9" name="Freeform 29"/>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0" name="TextBox 30"/>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31" name="Freeform 31"/>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32" name="TextBox 32"/>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0" y="5920447"/>
            <a:ext cx="8384711" cy="2735500"/>
            <a:chOff x="0" y="0"/>
            <a:chExt cx="2208319" cy="720461"/>
          </a:xfrm>
        </p:grpSpPr>
        <p:sp>
          <p:nvSpPr>
            <p:cNvPr id="3" name="Freeform 3"/>
            <p:cNvSpPr/>
            <p:nvPr/>
          </p:nvSpPr>
          <p:spPr>
            <a:xfrm>
              <a:off x="0" y="0"/>
              <a:ext cx="2208319" cy="720461"/>
            </a:xfrm>
            <a:custGeom>
              <a:avLst/>
              <a:gdLst/>
              <a:ahLst/>
              <a:cxnLst/>
              <a:rect l="l" t="t" r="r" b="b"/>
              <a:pathLst>
                <a:path w="2208319" h="720461">
                  <a:moveTo>
                    <a:pt x="0" y="0"/>
                  </a:moveTo>
                  <a:lnTo>
                    <a:pt x="2208319" y="0"/>
                  </a:lnTo>
                  <a:lnTo>
                    <a:pt x="2208319" y="720461"/>
                  </a:lnTo>
                  <a:lnTo>
                    <a:pt x="0" y="720461"/>
                  </a:lnTo>
                  <a:close/>
                </a:path>
              </a:pathLst>
            </a:custGeom>
            <a:gradFill rotWithShape="1">
              <a:gsLst>
                <a:gs pos="0">
                  <a:srgbClr val="3C67BF">
                    <a:alpha val="79000"/>
                  </a:srgbClr>
                </a:gs>
                <a:gs pos="100000">
                  <a:srgbClr val="F7ACFF">
                    <a:alpha val="79000"/>
                  </a:srgbClr>
                </a:gs>
              </a:gsLst>
              <a:lin ang="0"/>
            </a:gradFill>
          </p:spPr>
          <p:txBody>
            <a:bodyPr/>
            <a:lstStyle/>
            <a:p>
              <a:endParaRPr lang="en-IN"/>
            </a:p>
          </p:txBody>
        </p:sp>
        <p:sp>
          <p:nvSpPr>
            <p:cNvPr id="4" name="TextBox 4"/>
            <p:cNvSpPr txBox="1"/>
            <p:nvPr/>
          </p:nvSpPr>
          <p:spPr>
            <a:xfrm>
              <a:off x="0" y="-38100"/>
              <a:ext cx="2208319" cy="75856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029177" y="2339407"/>
            <a:ext cx="1256320" cy="125632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29600" y="2555251"/>
            <a:ext cx="2028716" cy="2080953"/>
            <a:chOff x="0" y="0"/>
            <a:chExt cx="534312" cy="548070"/>
          </a:xfrm>
        </p:grpSpPr>
        <p:sp>
          <p:nvSpPr>
            <p:cNvPr id="9" name="Freeform 9"/>
            <p:cNvSpPr/>
            <p:nvPr/>
          </p:nvSpPr>
          <p:spPr>
            <a:xfrm>
              <a:off x="0" y="0"/>
              <a:ext cx="534312" cy="548070"/>
            </a:xfrm>
            <a:custGeom>
              <a:avLst/>
              <a:gdLst/>
              <a:ahLst/>
              <a:cxnLst/>
              <a:rect l="l" t="t" r="r" b="b"/>
              <a:pathLst>
                <a:path w="534312" h="548070">
                  <a:moveTo>
                    <a:pt x="0" y="0"/>
                  </a:moveTo>
                  <a:lnTo>
                    <a:pt x="534312" y="0"/>
                  </a:lnTo>
                  <a:lnTo>
                    <a:pt x="534312" y="548070"/>
                  </a:lnTo>
                  <a:lnTo>
                    <a:pt x="0" y="548070"/>
                  </a:lnTo>
                  <a:close/>
                </a:path>
              </a:pathLst>
            </a:custGeom>
            <a:gradFill rotWithShape="1">
              <a:gsLst>
                <a:gs pos="0">
                  <a:srgbClr val="3C67BF">
                    <a:alpha val="79000"/>
                  </a:srgbClr>
                </a:gs>
                <a:gs pos="100000">
                  <a:srgbClr val="F7ACFF">
                    <a:alpha val="79000"/>
                  </a:srgbClr>
                </a:gs>
              </a:gsLst>
              <a:lin ang="0"/>
            </a:gradFill>
          </p:spPr>
          <p:txBody>
            <a:bodyPr/>
            <a:lstStyle/>
            <a:p>
              <a:endParaRPr lang="en-IN"/>
            </a:p>
          </p:txBody>
        </p:sp>
        <p:sp>
          <p:nvSpPr>
            <p:cNvPr id="10" name="TextBox 10"/>
            <p:cNvSpPr txBox="1"/>
            <p:nvPr/>
          </p:nvSpPr>
          <p:spPr>
            <a:xfrm>
              <a:off x="0" y="-38100"/>
              <a:ext cx="534312" cy="58617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15568629" y="-318954"/>
            <a:ext cx="2249937" cy="224993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7128905" y="1279178"/>
            <a:ext cx="1256320" cy="125632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19" name="Freeform 19"/>
          <p:cNvSpPr/>
          <p:nvPr/>
        </p:nvSpPr>
        <p:spPr>
          <a:xfrm>
            <a:off x="2289811" y="1907338"/>
            <a:ext cx="13708378" cy="7088374"/>
          </a:xfrm>
          <a:custGeom>
            <a:avLst/>
            <a:gdLst/>
            <a:ahLst/>
            <a:cxnLst/>
            <a:rect l="l" t="t" r="r" b="b"/>
            <a:pathLst>
              <a:path w="13708378" h="7088374">
                <a:moveTo>
                  <a:pt x="0" y="0"/>
                </a:moveTo>
                <a:lnTo>
                  <a:pt x="13708378" y="0"/>
                </a:lnTo>
                <a:lnTo>
                  <a:pt x="13708378" y="7088374"/>
                </a:lnTo>
                <a:lnTo>
                  <a:pt x="0" y="7088374"/>
                </a:lnTo>
                <a:lnTo>
                  <a:pt x="0" y="0"/>
                </a:lnTo>
                <a:close/>
              </a:path>
            </a:pathLst>
          </a:custGeom>
          <a:blipFill>
            <a:blip r:embed="rId5"/>
            <a:stretch>
              <a:fillRect/>
            </a:stretch>
          </a:blipFill>
        </p:spPr>
        <p:txBody>
          <a:bodyPr/>
          <a:lstStyle/>
          <a:p>
            <a:endParaRPr lang="en-IN"/>
          </a:p>
        </p:txBody>
      </p:sp>
      <p:sp>
        <p:nvSpPr>
          <p:cNvPr id="20" name="TextBox 20"/>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21" name="TextBox 21"/>
          <p:cNvSpPr txBox="1"/>
          <p:nvPr/>
        </p:nvSpPr>
        <p:spPr>
          <a:xfrm>
            <a:off x="16774314" y="9473025"/>
            <a:ext cx="354591" cy="241692"/>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05</a:t>
            </a:r>
          </a:p>
        </p:txBody>
      </p:sp>
      <p:sp>
        <p:nvSpPr>
          <p:cNvPr id="22" name="TextBox 22"/>
          <p:cNvSpPr txBox="1"/>
          <p:nvPr/>
        </p:nvSpPr>
        <p:spPr>
          <a:xfrm>
            <a:off x="4583783" y="816206"/>
            <a:ext cx="9120435" cy="544188"/>
          </a:xfrm>
          <a:prstGeom prst="rect">
            <a:avLst/>
          </a:prstGeom>
        </p:spPr>
        <p:txBody>
          <a:bodyPr lIns="0" tIns="0" rIns="0" bIns="0" rtlCol="0" anchor="t">
            <a:spAutoFit/>
          </a:bodyPr>
          <a:lstStyle/>
          <a:p>
            <a:pPr algn="l">
              <a:lnSpc>
                <a:spcPts val="4027"/>
              </a:lnSpc>
            </a:pPr>
            <a:r>
              <a:rPr lang="en-US" sz="5033" b="1" dirty="0">
                <a:solidFill>
                  <a:srgbClr val="240960"/>
                </a:solidFill>
                <a:latin typeface="Montserrat"/>
                <a:ea typeface="Montserrat"/>
                <a:cs typeface="Montserrat"/>
                <a:sym typeface="Montserrat"/>
              </a:rPr>
              <a:t>Architecture Flow Diagram</a:t>
            </a:r>
          </a:p>
        </p:txBody>
      </p:sp>
      <p:sp>
        <p:nvSpPr>
          <p:cNvPr id="23" name="TextBox 23"/>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24" name="TextBox 24"/>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499498" y="2101839"/>
            <a:ext cx="14152523" cy="4691226"/>
            <a:chOff x="0" y="0"/>
            <a:chExt cx="3727414" cy="1235549"/>
          </a:xfrm>
        </p:grpSpPr>
        <p:sp>
          <p:nvSpPr>
            <p:cNvPr id="3" name="Freeform 3"/>
            <p:cNvSpPr/>
            <p:nvPr/>
          </p:nvSpPr>
          <p:spPr>
            <a:xfrm>
              <a:off x="0" y="0"/>
              <a:ext cx="3727414" cy="1235549"/>
            </a:xfrm>
            <a:custGeom>
              <a:avLst/>
              <a:gdLst/>
              <a:ahLst/>
              <a:cxnLst/>
              <a:rect l="l" t="t" r="r" b="b"/>
              <a:pathLst>
                <a:path w="3727414" h="1235549">
                  <a:moveTo>
                    <a:pt x="0" y="0"/>
                  </a:moveTo>
                  <a:lnTo>
                    <a:pt x="3727414" y="0"/>
                  </a:lnTo>
                  <a:lnTo>
                    <a:pt x="3727414" y="1235549"/>
                  </a:lnTo>
                  <a:lnTo>
                    <a:pt x="0" y="1235549"/>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txBody>
            <a:bodyPr/>
            <a:lstStyle/>
            <a:p>
              <a:endParaRPr lang="en-IN"/>
            </a:p>
          </p:txBody>
        </p:sp>
        <p:sp>
          <p:nvSpPr>
            <p:cNvPr id="4" name="TextBox 4"/>
            <p:cNvSpPr txBox="1"/>
            <p:nvPr/>
          </p:nvSpPr>
          <p:spPr>
            <a:xfrm>
              <a:off x="0" y="-38100"/>
              <a:ext cx="3727414" cy="127364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774314" y="2306583"/>
            <a:ext cx="1892038" cy="189203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0540" y="1693375"/>
            <a:ext cx="1256320" cy="125632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1840087" y="6978409"/>
            <a:ext cx="1256320" cy="125632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5422108" y="5233217"/>
            <a:ext cx="1256320" cy="125632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txBody>
            <a:bodyPr/>
            <a:lstStyle/>
            <a:p>
              <a:endParaRPr lang="en-IN"/>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19" name="Freeform 19"/>
          <p:cNvSpPr/>
          <p:nvPr/>
        </p:nvSpPr>
        <p:spPr>
          <a:xfrm>
            <a:off x="2289811" y="2949695"/>
            <a:ext cx="13708378" cy="6231600"/>
          </a:xfrm>
          <a:custGeom>
            <a:avLst/>
            <a:gdLst/>
            <a:ahLst/>
            <a:cxnLst/>
            <a:rect l="l" t="t" r="r" b="b"/>
            <a:pathLst>
              <a:path w="13708378" h="6231600">
                <a:moveTo>
                  <a:pt x="0" y="0"/>
                </a:moveTo>
                <a:lnTo>
                  <a:pt x="13708378" y="0"/>
                </a:lnTo>
                <a:lnTo>
                  <a:pt x="13708378" y="6231600"/>
                </a:lnTo>
                <a:lnTo>
                  <a:pt x="0" y="6231600"/>
                </a:lnTo>
                <a:lnTo>
                  <a:pt x="0" y="0"/>
                </a:lnTo>
                <a:close/>
              </a:path>
            </a:pathLst>
          </a:custGeom>
          <a:blipFill>
            <a:blip r:embed="rId5"/>
            <a:stretch>
              <a:fillRect/>
            </a:stretch>
          </a:blipFill>
        </p:spPr>
        <p:txBody>
          <a:bodyPr/>
          <a:lstStyle/>
          <a:p>
            <a:endParaRPr lang="en-IN"/>
          </a:p>
        </p:txBody>
      </p:sp>
      <p:sp>
        <p:nvSpPr>
          <p:cNvPr id="20" name="TextBox 20"/>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21" name="TextBox 21"/>
          <p:cNvSpPr txBox="1"/>
          <p:nvPr/>
        </p:nvSpPr>
        <p:spPr>
          <a:xfrm>
            <a:off x="16774314" y="9473025"/>
            <a:ext cx="354591" cy="241636"/>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06</a:t>
            </a:r>
          </a:p>
        </p:txBody>
      </p:sp>
      <p:sp>
        <p:nvSpPr>
          <p:cNvPr id="22" name="TextBox 22"/>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23" name="TextBox 23"/>
          <p:cNvSpPr txBox="1"/>
          <p:nvPr/>
        </p:nvSpPr>
        <p:spPr>
          <a:xfrm>
            <a:off x="5488546" y="1295400"/>
            <a:ext cx="7310908" cy="766255"/>
          </a:xfrm>
          <a:prstGeom prst="rect">
            <a:avLst/>
          </a:prstGeom>
        </p:spPr>
        <p:txBody>
          <a:bodyPr lIns="0" tIns="0" rIns="0" bIns="0" rtlCol="0" anchor="t">
            <a:spAutoFit/>
          </a:bodyPr>
          <a:lstStyle/>
          <a:p>
            <a:pPr algn="ctr">
              <a:lnSpc>
                <a:spcPts val="5467"/>
              </a:lnSpc>
            </a:pPr>
            <a:r>
              <a:rPr lang="en-US" sz="6833" b="1">
                <a:solidFill>
                  <a:srgbClr val="240960"/>
                </a:solidFill>
                <a:latin typeface="Montserrat Bold"/>
                <a:ea typeface="Montserrat Bold"/>
                <a:cs typeface="Montserrat Bold"/>
                <a:sym typeface="Montserrat Bold"/>
              </a:rPr>
              <a:t>Catalog</a:t>
            </a:r>
          </a:p>
        </p:txBody>
      </p:sp>
      <p:sp>
        <p:nvSpPr>
          <p:cNvPr id="24" name="TextBox 24"/>
          <p:cNvSpPr txBox="1"/>
          <p:nvPr/>
        </p:nvSpPr>
        <p:spPr>
          <a:xfrm>
            <a:off x="6256767" y="2034643"/>
            <a:ext cx="5774467" cy="766255"/>
          </a:xfrm>
          <a:prstGeom prst="rect">
            <a:avLst/>
          </a:prstGeom>
        </p:spPr>
        <p:txBody>
          <a:bodyPr lIns="0" tIns="0" rIns="0" bIns="0" rtlCol="0" anchor="t">
            <a:spAutoFit/>
          </a:bodyPr>
          <a:lstStyle/>
          <a:p>
            <a:pPr algn="ctr">
              <a:lnSpc>
                <a:spcPts val="5467"/>
              </a:lnSpc>
            </a:pPr>
            <a:r>
              <a:rPr lang="en-US" sz="6833">
                <a:solidFill>
                  <a:srgbClr val="240960"/>
                </a:solidFill>
                <a:latin typeface="Montserrat"/>
                <a:ea typeface="Montserrat"/>
                <a:cs typeface="Montserrat"/>
                <a:sym typeface="Montserrat"/>
              </a:rPr>
              <a:t>of AI Agents</a:t>
            </a:r>
          </a:p>
        </p:txBody>
      </p:sp>
      <p:sp>
        <p:nvSpPr>
          <p:cNvPr id="25" name="TextBox 25"/>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11623420" y="5741165"/>
            <a:ext cx="7406570" cy="74065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67104" y="-2512338"/>
            <a:ext cx="5214383" cy="521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482058" y="2581220"/>
            <a:ext cx="3265114" cy="745460"/>
          </a:xfrm>
          <a:prstGeom prst="rect">
            <a:avLst/>
          </a:prstGeom>
        </p:spPr>
        <p:txBody>
          <a:bodyPr wrap="square" lIns="0" tIns="0" rIns="0" bIns="0" rtlCol="0" anchor="t">
            <a:spAutoFit/>
          </a:bodyPr>
          <a:lstStyle/>
          <a:p>
            <a:pPr algn="l">
              <a:lnSpc>
                <a:spcPts val="5467"/>
              </a:lnSpc>
            </a:pPr>
            <a:r>
              <a:rPr lang="en-US" sz="6833" b="1" dirty="0">
                <a:solidFill>
                  <a:srgbClr val="240960"/>
                </a:solidFill>
                <a:latin typeface="Montserrat Bold"/>
                <a:ea typeface="Montserrat Bold"/>
                <a:cs typeface="Montserrat Bold"/>
                <a:sym typeface="Montserrat Bold"/>
              </a:rPr>
              <a:t>Core</a:t>
            </a:r>
          </a:p>
        </p:txBody>
      </p:sp>
      <p:grpSp>
        <p:nvGrpSpPr>
          <p:cNvPr id="9" name="Group 9"/>
          <p:cNvGrpSpPr/>
          <p:nvPr/>
        </p:nvGrpSpPr>
        <p:grpSpPr>
          <a:xfrm>
            <a:off x="4747172" y="3469231"/>
            <a:ext cx="1343260" cy="13432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443958" y="3310598"/>
            <a:ext cx="8947901" cy="772394"/>
          </a:xfrm>
          <a:prstGeom prst="rect">
            <a:avLst/>
          </a:prstGeom>
        </p:spPr>
        <p:txBody>
          <a:bodyPr lIns="0" tIns="0" rIns="0" bIns="0" rtlCol="0" anchor="t">
            <a:spAutoFit/>
          </a:bodyPr>
          <a:lstStyle/>
          <a:p>
            <a:pPr algn="l">
              <a:lnSpc>
                <a:spcPts val="5467"/>
              </a:lnSpc>
            </a:pPr>
            <a:r>
              <a:rPr lang="en-US" sz="6833" dirty="0">
                <a:solidFill>
                  <a:srgbClr val="240960"/>
                </a:solidFill>
                <a:latin typeface="Montserrat"/>
                <a:ea typeface="Montserrat"/>
                <a:cs typeface="Montserrat"/>
                <a:sym typeface="Montserrat"/>
              </a:rPr>
              <a:t>Technologies Used</a:t>
            </a:r>
          </a:p>
        </p:txBody>
      </p:sp>
      <p:sp>
        <p:nvSpPr>
          <p:cNvPr id="13" name="TextBox 13"/>
          <p:cNvSpPr txBox="1"/>
          <p:nvPr/>
        </p:nvSpPr>
        <p:spPr>
          <a:xfrm>
            <a:off x="2194073" y="4822015"/>
            <a:ext cx="15065227" cy="616399"/>
          </a:xfrm>
          <a:prstGeom prst="rect">
            <a:avLst/>
          </a:prstGeom>
        </p:spPr>
        <p:txBody>
          <a:bodyPr lIns="0" tIns="0" rIns="0" bIns="0" rtlCol="0" anchor="t">
            <a:spAutoFit/>
          </a:bodyPr>
          <a:lstStyle/>
          <a:p>
            <a:pPr algn="l">
              <a:lnSpc>
                <a:spcPts val="2442"/>
              </a:lnSpc>
            </a:pPr>
            <a:r>
              <a:rPr lang="en-US" sz="2142">
                <a:solidFill>
                  <a:srgbClr val="240960"/>
                </a:solidFill>
                <a:latin typeface="Montserrat"/>
                <a:ea typeface="Montserrat"/>
                <a:cs typeface="Montserrat"/>
                <a:sym typeface="Montserrat"/>
              </a:rPr>
              <a:t>Used as a core AI-framework in the project to build and manage AI services, handle memory management, build specialized assistants, prompt engineering, embedded model integration and message classification</a:t>
            </a:r>
          </a:p>
        </p:txBody>
      </p:sp>
      <p:grpSp>
        <p:nvGrpSpPr>
          <p:cNvPr id="14" name="Group 14"/>
          <p:cNvGrpSpPr/>
          <p:nvPr/>
        </p:nvGrpSpPr>
        <p:grpSpPr>
          <a:xfrm>
            <a:off x="1697372" y="4371911"/>
            <a:ext cx="262038" cy="26203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2194073" y="4384754"/>
            <a:ext cx="2046905" cy="312551"/>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Langchain</a:t>
            </a:r>
          </a:p>
        </p:txBody>
      </p:sp>
      <p:sp>
        <p:nvSpPr>
          <p:cNvPr id="18" name="TextBox 18"/>
          <p:cNvSpPr txBox="1"/>
          <p:nvPr/>
        </p:nvSpPr>
        <p:spPr>
          <a:xfrm>
            <a:off x="2194073" y="6255790"/>
            <a:ext cx="15065227" cy="616399"/>
          </a:xfrm>
          <a:prstGeom prst="rect">
            <a:avLst/>
          </a:prstGeom>
        </p:spPr>
        <p:txBody>
          <a:bodyPr lIns="0" tIns="0" rIns="0" bIns="0" rtlCol="0" anchor="t">
            <a:spAutoFit/>
          </a:bodyPr>
          <a:lstStyle/>
          <a:p>
            <a:pPr algn="l">
              <a:lnSpc>
                <a:spcPts val="2442"/>
              </a:lnSpc>
            </a:pPr>
            <a:r>
              <a:rPr lang="en-US" sz="2142">
                <a:solidFill>
                  <a:srgbClr val="240960"/>
                </a:solidFill>
                <a:latin typeface="Montserrat"/>
                <a:ea typeface="Montserrat"/>
                <a:cs typeface="Montserrat"/>
                <a:sym typeface="Montserrat"/>
              </a:rPr>
              <a:t>Used as a primary engine for LLM provider in dbVybe. Allows us to connect to GPT models via APIs and is faster than many traditional cloud-based LLMs</a:t>
            </a:r>
          </a:p>
        </p:txBody>
      </p:sp>
      <p:grpSp>
        <p:nvGrpSpPr>
          <p:cNvPr id="19" name="Group 19"/>
          <p:cNvGrpSpPr/>
          <p:nvPr/>
        </p:nvGrpSpPr>
        <p:grpSpPr>
          <a:xfrm>
            <a:off x="1678614" y="5806570"/>
            <a:ext cx="262038" cy="26203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175315" y="5819414"/>
            <a:ext cx="5040628" cy="312551"/>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Groq Inference Engine</a:t>
            </a:r>
          </a:p>
        </p:txBody>
      </p:sp>
      <p:grpSp>
        <p:nvGrpSpPr>
          <p:cNvPr id="23" name="Group 23"/>
          <p:cNvGrpSpPr/>
          <p:nvPr/>
        </p:nvGrpSpPr>
        <p:grpSpPr>
          <a:xfrm>
            <a:off x="11623420" y="1477600"/>
            <a:ext cx="1343260" cy="134326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27" name="TextBox 27"/>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28" name="TextBox 28"/>
          <p:cNvSpPr txBox="1"/>
          <p:nvPr/>
        </p:nvSpPr>
        <p:spPr>
          <a:xfrm>
            <a:off x="16774314" y="9473025"/>
            <a:ext cx="484986" cy="241636"/>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07</a:t>
            </a:r>
          </a:p>
        </p:txBody>
      </p:sp>
      <p:sp>
        <p:nvSpPr>
          <p:cNvPr id="29" name="Freeform 29"/>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0" name="Freeform 30"/>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31" name="TextBox 31"/>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
        <p:nvSpPr>
          <p:cNvPr id="32" name="TextBox 32"/>
          <p:cNvSpPr txBox="1"/>
          <p:nvPr/>
        </p:nvSpPr>
        <p:spPr>
          <a:xfrm>
            <a:off x="2212831" y="7518114"/>
            <a:ext cx="15174825" cy="311599"/>
          </a:xfrm>
          <a:prstGeom prst="rect">
            <a:avLst/>
          </a:prstGeom>
        </p:spPr>
        <p:txBody>
          <a:bodyPr lIns="0" tIns="0" rIns="0" bIns="0" rtlCol="0" anchor="t">
            <a:spAutoFit/>
          </a:bodyPr>
          <a:lstStyle/>
          <a:p>
            <a:pPr algn="l">
              <a:lnSpc>
                <a:spcPts val="2442"/>
              </a:lnSpc>
            </a:pPr>
            <a:r>
              <a:rPr lang="en-US" sz="2142">
                <a:solidFill>
                  <a:srgbClr val="240960"/>
                </a:solidFill>
                <a:latin typeface="Montserrat"/>
                <a:ea typeface="Montserrat"/>
                <a:cs typeface="Montserrat"/>
                <a:sym typeface="Montserrat"/>
              </a:rPr>
              <a:t>Vector database for storing and searching database schema for enhanced schema understanding and context</a:t>
            </a:r>
          </a:p>
        </p:txBody>
      </p:sp>
      <p:grpSp>
        <p:nvGrpSpPr>
          <p:cNvPr id="33" name="Group 33"/>
          <p:cNvGrpSpPr/>
          <p:nvPr/>
        </p:nvGrpSpPr>
        <p:grpSpPr>
          <a:xfrm>
            <a:off x="1697372" y="7068895"/>
            <a:ext cx="262038" cy="262038"/>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2194073" y="7081739"/>
            <a:ext cx="5040628" cy="312551"/>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Qdrant</a:t>
            </a:r>
          </a:p>
        </p:txBody>
      </p:sp>
      <p:sp>
        <p:nvSpPr>
          <p:cNvPr id="37" name="TextBox 37"/>
          <p:cNvSpPr txBox="1"/>
          <p:nvPr/>
        </p:nvSpPr>
        <p:spPr>
          <a:xfrm>
            <a:off x="2212831" y="8570889"/>
            <a:ext cx="15174825" cy="616399"/>
          </a:xfrm>
          <a:prstGeom prst="rect">
            <a:avLst/>
          </a:prstGeom>
        </p:spPr>
        <p:txBody>
          <a:bodyPr lIns="0" tIns="0" rIns="0" bIns="0" rtlCol="0" anchor="t">
            <a:spAutoFit/>
          </a:bodyPr>
          <a:lstStyle/>
          <a:p>
            <a:pPr algn="l">
              <a:lnSpc>
                <a:spcPts val="2442"/>
              </a:lnSpc>
            </a:pPr>
            <a:r>
              <a:rPr lang="en-US" sz="2142">
                <a:solidFill>
                  <a:srgbClr val="240960"/>
                </a:solidFill>
                <a:latin typeface="Montserrat"/>
                <a:ea typeface="Montserrat"/>
                <a:cs typeface="Montserrat"/>
                <a:sym typeface="Montserrat"/>
              </a:rPr>
              <a:t>Graph database for storing and analyzing complex database relations and build enhanced context for the LLM to understand</a:t>
            </a:r>
          </a:p>
        </p:txBody>
      </p:sp>
      <p:grpSp>
        <p:nvGrpSpPr>
          <p:cNvPr id="38" name="Group 38"/>
          <p:cNvGrpSpPr/>
          <p:nvPr/>
        </p:nvGrpSpPr>
        <p:grpSpPr>
          <a:xfrm>
            <a:off x="1697372" y="8121669"/>
            <a:ext cx="262038" cy="262038"/>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1" name="TextBox 41"/>
          <p:cNvSpPr txBox="1"/>
          <p:nvPr/>
        </p:nvSpPr>
        <p:spPr>
          <a:xfrm>
            <a:off x="2194073" y="8134513"/>
            <a:ext cx="5040628" cy="312551"/>
          </a:xfrm>
          <a:prstGeom prst="rect">
            <a:avLst/>
          </a:prstGeom>
        </p:spPr>
        <p:txBody>
          <a:bodyPr lIns="0" tIns="0" rIns="0" bIns="0" rtlCol="0" anchor="t">
            <a:spAutoFit/>
          </a:bodyPr>
          <a:lstStyle/>
          <a:p>
            <a:pPr algn="l">
              <a:lnSpc>
                <a:spcPts val="2145"/>
              </a:lnSpc>
            </a:pPr>
            <a:r>
              <a:rPr lang="en-US" sz="2681" b="1">
                <a:solidFill>
                  <a:srgbClr val="240960"/>
                </a:solidFill>
                <a:latin typeface="Montserrat Bold"/>
                <a:ea typeface="Montserrat Bold"/>
                <a:cs typeface="Montserrat Bold"/>
                <a:sym typeface="Montserrat Bold"/>
              </a:rPr>
              <a:t>Neo4j</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72917" y="1710815"/>
            <a:ext cx="19526368" cy="2240807"/>
            <a:chOff x="0" y="0"/>
            <a:chExt cx="5142747" cy="590171"/>
          </a:xfrm>
        </p:grpSpPr>
        <p:sp>
          <p:nvSpPr>
            <p:cNvPr id="3" name="Freeform 3"/>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txBody>
            <a:bodyPr/>
            <a:lstStyle/>
            <a:p>
              <a:endParaRPr lang="en-IN"/>
            </a:p>
          </p:txBody>
        </p:sp>
        <p:sp>
          <p:nvSpPr>
            <p:cNvPr id="4" name="TextBox 4"/>
            <p:cNvSpPr txBox="1"/>
            <p:nvPr/>
          </p:nvSpPr>
          <p:spPr>
            <a:xfrm>
              <a:off x="0" y="-38100"/>
              <a:ext cx="5142747" cy="62827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5150546" y="2143184"/>
            <a:ext cx="7895474" cy="766255"/>
          </a:xfrm>
          <a:prstGeom prst="rect">
            <a:avLst/>
          </a:prstGeom>
        </p:spPr>
        <p:txBody>
          <a:bodyPr lIns="0" tIns="0" rIns="0" bIns="0" rtlCol="0" anchor="t">
            <a:spAutoFit/>
          </a:bodyPr>
          <a:lstStyle/>
          <a:p>
            <a:pPr algn="ctr">
              <a:lnSpc>
                <a:spcPts val="5467"/>
              </a:lnSpc>
            </a:pPr>
            <a:r>
              <a:rPr lang="en-US" sz="6833" b="1">
                <a:solidFill>
                  <a:srgbClr val="240960"/>
                </a:solidFill>
                <a:latin typeface="Montserrat Bold"/>
                <a:ea typeface="Montserrat Bold"/>
                <a:cs typeface="Montserrat Bold"/>
                <a:sym typeface="Montserrat Bold"/>
              </a:rPr>
              <a:t>Communication</a:t>
            </a:r>
          </a:p>
        </p:txBody>
      </p:sp>
      <p:sp>
        <p:nvSpPr>
          <p:cNvPr id="6" name="TextBox 6"/>
          <p:cNvSpPr txBox="1"/>
          <p:nvPr/>
        </p:nvSpPr>
        <p:spPr>
          <a:xfrm>
            <a:off x="6489742" y="2872563"/>
            <a:ext cx="4632515" cy="766255"/>
          </a:xfrm>
          <a:prstGeom prst="rect">
            <a:avLst/>
          </a:prstGeom>
        </p:spPr>
        <p:txBody>
          <a:bodyPr lIns="0" tIns="0" rIns="0" bIns="0" rtlCol="0" anchor="t">
            <a:spAutoFit/>
          </a:bodyPr>
          <a:lstStyle/>
          <a:p>
            <a:pPr algn="ctr">
              <a:lnSpc>
                <a:spcPts val="5467"/>
              </a:lnSpc>
            </a:pPr>
            <a:r>
              <a:rPr lang="en-US" sz="6833">
                <a:solidFill>
                  <a:srgbClr val="240960"/>
                </a:solidFill>
                <a:latin typeface="Montserrat"/>
                <a:ea typeface="Montserrat"/>
                <a:cs typeface="Montserrat"/>
                <a:sym typeface="Montserrat"/>
              </a:rPr>
              <a:t>Protocols</a:t>
            </a:r>
          </a:p>
        </p:txBody>
      </p:sp>
      <p:grpSp>
        <p:nvGrpSpPr>
          <p:cNvPr id="7" name="Group 7"/>
          <p:cNvGrpSpPr/>
          <p:nvPr/>
        </p:nvGrpSpPr>
        <p:grpSpPr>
          <a:xfrm>
            <a:off x="-135218" y="9166597"/>
            <a:ext cx="19526368" cy="2240807"/>
            <a:chOff x="0" y="0"/>
            <a:chExt cx="5142747" cy="590171"/>
          </a:xfrm>
        </p:grpSpPr>
        <p:sp>
          <p:nvSpPr>
            <p:cNvPr id="8" name="Freeform 8"/>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txBody>
            <a:bodyPr/>
            <a:lstStyle/>
            <a:p>
              <a:endParaRPr lang="en-IN"/>
            </a:p>
          </p:txBody>
        </p:sp>
        <p:sp>
          <p:nvSpPr>
            <p:cNvPr id="9" name="TextBox 9"/>
            <p:cNvSpPr txBox="1"/>
            <p:nvPr/>
          </p:nvSpPr>
          <p:spPr>
            <a:xfrm>
              <a:off x="0" y="-38100"/>
              <a:ext cx="5142747" cy="62827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grpSp>
        <p:nvGrpSpPr>
          <p:cNvPr id="11" name="Group 11"/>
          <p:cNvGrpSpPr/>
          <p:nvPr/>
        </p:nvGrpSpPr>
        <p:grpSpPr>
          <a:xfrm>
            <a:off x="15650032" y="-529992"/>
            <a:ext cx="19526368" cy="2240807"/>
            <a:chOff x="0" y="0"/>
            <a:chExt cx="5142747" cy="590171"/>
          </a:xfrm>
        </p:grpSpPr>
        <p:sp>
          <p:nvSpPr>
            <p:cNvPr id="12" name="Freeform 12"/>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txBody>
            <a:bodyPr/>
            <a:lstStyle/>
            <a:p>
              <a:endParaRPr lang="en-IN"/>
            </a:p>
          </p:txBody>
        </p:sp>
        <p:sp>
          <p:nvSpPr>
            <p:cNvPr id="13" name="TextBox 13"/>
            <p:cNvSpPr txBox="1"/>
            <p:nvPr/>
          </p:nvSpPr>
          <p:spPr>
            <a:xfrm>
              <a:off x="0" y="-38100"/>
              <a:ext cx="5142747" cy="628271"/>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6774314" y="9473025"/>
            <a:ext cx="354591" cy="241636"/>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08</a:t>
            </a:r>
          </a:p>
        </p:txBody>
      </p:sp>
      <p:sp>
        <p:nvSpPr>
          <p:cNvPr id="15" name="TextBox 15"/>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16" name="Freeform 16"/>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7" name="Group 17"/>
          <p:cNvGrpSpPr/>
          <p:nvPr/>
        </p:nvGrpSpPr>
        <p:grpSpPr>
          <a:xfrm>
            <a:off x="2136488" y="4380246"/>
            <a:ext cx="4689803" cy="3762036"/>
            <a:chOff x="0" y="0"/>
            <a:chExt cx="1312069" cy="1052507"/>
          </a:xfrm>
        </p:grpSpPr>
        <p:sp>
          <p:nvSpPr>
            <p:cNvPr id="18" name="Freeform 18"/>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txBody>
            <a:bodyPr/>
            <a:lstStyle/>
            <a:p>
              <a:endParaRPr lang="en-IN"/>
            </a:p>
          </p:txBody>
        </p:sp>
        <p:sp>
          <p:nvSpPr>
            <p:cNvPr id="19" name="TextBox 19"/>
            <p:cNvSpPr txBox="1"/>
            <p:nvPr/>
          </p:nvSpPr>
          <p:spPr>
            <a:xfrm>
              <a:off x="0" y="-38100"/>
              <a:ext cx="1312069" cy="1090607"/>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045366" y="4380246"/>
            <a:ext cx="4689803" cy="3762036"/>
            <a:chOff x="0" y="0"/>
            <a:chExt cx="1312069" cy="1052507"/>
          </a:xfrm>
        </p:grpSpPr>
        <p:sp>
          <p:nvSpPr>
            <p:cNvPr id="21" name="Freeform 21"/>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txBody>
            <a:bodyPr/>
            <a:lstStyle/>
            <a:p>
              <a:endParaRPr lang="en-IN"/>
            </a:p>
          </p:txBody>
        </p:sp>
        <p:sp>
          <p:nvSpPr>
            <p:cNvPr id="22" name="TextBox 22"/>
            <p:cNvSpPr txBox="1"/>
            <p:nvPr/>
          </p:nvSpPr>
          <p:spPr>
            <a:xfrm>
              <a:off x="0" y="-38100"/>
              <a:ext cx="1312069" cy="1090607"/>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1894901" y="4380246"/>
            <a:ext cx="4689803" cy="3762036"/>
            <a:chOff x="0" y="0"/>
            <a:chExt cx="1312069" cy="1052507"/>
          </a:xfrm>
        </p:grpSpPr>
        <p:sp>
          <p:nvSpPr>
            <p:cNvPr id="24" name="Freeform 24"/>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txBody>
            <a:bodyPr/>
            <a:lstStyle/>
            <a:p>
              <a:endParaRPr lang="en-IN"/>
            </a:p>
          </p:txBody>
        </p:sp>
        <p:sp>
          <p:nvSpPr>
            <p:cNvPr id="25" name="TextBox 25"/>
            <p:cNvSpPr txBox="1"/>
            <p:nvPr/>
          </p:nvSpPr>
          <p:spPr>
            <a:xfrm>
              <a:off x="0" y="-38100"/>
              <a:ext cx="1312069" cy="1090607"/>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570510" y="5557549"/>
            <a:ext cx="3984911" cy="570191"/>
          </a:xfrm>
          <a:prstGeom prst="rect">
            <a:avLst/>
          </a:prstGeom>
        </p:spPr>
        <p:txBody>
          <a:bodyPr lIns="0" tIns="0" rIns="0" bIns="0" rtlCol="0" anchor="t">
            <a:spAutoFit/>
          </a:bodyPr>
          <a:lstStyle/>
          <a:p>
            <a:pPr algn="l">
              <a:lnSpc>
                <a:spcPts val="2299"/>
              </a:lnSpc>
            </a:pPr>
            <a:r>
              <a:rPr lang="en-US" sz="2016">
                <a:solidFill>
                  <a:srgbClr val="240960"/>
                </a:solidFill>
                <a:latin typeface="Montserrat"/>
                <a:ea typeface="Montserrat"/>
                <a:cs typeface="Montserrat"/>
                <a:sym typeface="Montserrat"/>
              </a:rPr>
              <a:t>Frontend-Backend Communication</a:t>
            </a:r>
          </a:p>
        </p:txBody>
      </p:sp>
      <p:grpSp>
        <p:nvGrpSpPr>
          <p:cNvPr id="27" name="Group 27"/>
          <p:cNvGrpSpPr/>
          <p:nvPr/>
        </p:nvGrpSpPr>
        <p:grpSpPr>
          <a:xfrm>
            <a:off x="2570510" y="5009077"/>
            <a:ext cx="246681" cy="246681"/>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3038102" y="5026750"/>
            <a:ext cx="3788188" cy="288651"/>
          </a:xfrm>
          <a:prstGeom prst="rect">
            <a:avLst/>
          </a:prstGeom>
        </p:spPr>
        <p:txBody>
          <a:bodyPr lIns="0" tIns="0" rIns="0" bIns="0" rtlCol="0" anchor="t">
            <a:spAutoFit/>
          </a:bodyPr>
          <a:lstStyle/>
          <a:p>
            <a:pPr algn="l">
              <a:lnSpc>
                <a:spcPts val="2019"/>
              </a:lnSpc>
            </a:pPr>
            <a:r>
              <a:rPr lang="en-US" sz="2524" b="1">
                <a:solidFill>
                  <a:srgbClr val="240960"/>
                </a:solidFill>
                <a:latin typeface="Montserrat Bold"/>
                <a:ea typeface="Montserrat Bold"/>
                <a:cs typeface="Montserrat Bold"/>
                <a:sym typeface="Montserrat Bold"/>
              </a:rPr>
              <a:t>HTTP/REST</a:t>
            </a:r>
          </a:p>
        </p:txBody>
      </p:sp>
      <p:sp>
        <p:nvSpPr>
          <p:cNvPr id="31" name="TextBox 31"/>
          <p:cNvSpPr txBox="1"/>
          <p:nvPr/>
        </p:nvSpPr>
        <p:spPr>
          <a:xfrm>
            <a:off x="7627780" y="5660522"/>
            <a:ext cx="3671869" cy="1144065"/>
          </a:xfrm>
          <a:prstGeom prst="rect">
            <a:avLst/>
          </a:prstGeom>
        </p:spPr>
        <p:txBody>
          <a:bodyPr lIns="0" tIns="0" rIns="0" bIns="0" rtlCol="0" anchor="t">
            <a:spAutoFit/>
          </a:bodyPr>
          <a:lstStyle/>
          <a:p>
            <a:pPr algn="l">
              <a:lnSpc>
                <a:spcPts val="2299"/>
              </a:lnSpc>
            </a:pPr>
            <a:r>
              <a:rPr lang="en-US" sz="2016">
                <a:solidFill>
                  <a:srgbClr val="240960"/>
                </a:solidFill>
                <a:latin typeface="Montserrat"/>
                <a:ea typeface="Montserrat"/>
                <a:cs typeface="Montserrat"/>
                <a:sym typeface="Montserrat"/>
              </a:rPr>
              <a:t>Inter-actor communication, Actor-Supervisor communication and Cross-Node Communication  </a:t>
            </a:r>
          </a:p>
        </p:txBody>
      </p:sp>
      <p:grpSp>
        <p:nvGrpSpPr>
          <p:cNvPr id="32" name="Group 32"/>
          <p:cNvGrpSpPr/>
          <p:nvPr/>
        </p:nvGrpSpPr>
        <p:grpSpPr>
          <a:xfrm>
            <a:off x="7645588" y="5023624"/>
            <a:ext cx="246681" cy="246681"/>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34" name="TextBox 3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8113180" y="5041297"/>
            <a:ext cx="2701070" cy="544293"/>
          </a:xfrm>
          <a:prstGeom prst="rect">
            <a:avLst/>
          </a:prstGeom>
        </p:spPr>
        <p:txBody>
          <a:bodyPr lIns="0" tIns="0" rIns="0" bIns="0" rtlCol="0" anchor="t">
            <a:spAutoFit/>
          </a:bodyPr>
          <a:lstStyle/>
          <a:p>
            <a:pPr algn="l">
              <a:lnSpc>
                <a:spcPts val="2019"/>
              </a:lnSpc>
            </a:pPr>
            <a:r>
              <a:rPr lang="en-US" sz="2524" b="1">
                <a:solidFill>
                  <a:srgbClr val="240960"/>
                </a:solidFill>
                <a:latin typeface="Montserrat Bold"/>
                <a:ea typeface="Montserrat Bold"/>
                <a:cs typeface="Montserrat Bold"/>
                <a:sym typeface="Montserrat Bold"/>
              </a:rPr>
              <a:t>Akka Actor Messaging</a:t>
            </a:r>
          </a:p>
        </p:txBody>
      </p:sp>
      <p:sp>
        <p:nvSpPr>
          <p:cNvPr id="36" name="TextBox 36"/>
          <p:cNvSpPr txBox="1"/>
          <p:nvPr/>
        </p:nvSpPr>
        <p:spPr>
          <a:xfrm>
            <a:off x="12402725" y="5729867"/>
            <a:ext cx="3953728" cy="1717939"/>
          </a:xfrm>
          <a:prstGeom prst="rect">
            <a:avLst/>
          </a:prstGeom>
        </p:spPr>
        <p:txBody>
          <a:bodyPr lIns="0" tIns="0" rIns="0" bIns="0" rtlCol="0" anchor="t">
            <a:spAutoFit/>
          </a:bodyPr>
          <a:lstStyle/>
          <a:p>
            <a:pPr marL="435405" lvl="1" indent="-217703" algn="l">
              <a:lnSpc>
                <a:spcPts val="2299"/>
              </a:lnSpc>
              <a:buFont typeface="Arial"/>
              <a:buChar char="•"/>
            </a:pPr>
            <a:r>
              <a:rPr lang="en-US" sz="2016">
                <a:solidFill>
                  <a:srgbClr val="240960"/>
                </a:solidFill>
                <a:latin typeface="Montserrat"/>
                <a:ea typeface="Montserrat"/>
                <a:cs typeface="Montserrat"/>
                <a:sym typeface="Montserrat"/>
              </a:rPr>
              <a:t>gRPC for Qdrant</a:t>
            </a:r>
          </a:p>
          <a:p>
            <a:pPr marL="435405" lvl="1" indent="-217703" algn="l">
              <a:lnSpc>
                <a:spcPts val="2299"/>
              </a:lnSpc>
              <a:buFont typeface="Arial"/>
              <a:buChar char="•"/>
            </a:pPr>
            <a:r>
              <a:rPr lang="en-US" sz="2016">
                <a:solidFill>
                  <a:srgbClr val="240960"/>
                </a:solidFill>
                <a:latin typeface="Montserrat"/>
                <a:ea typeface="Montserrat"/>
                <a:cs typeface="Montserrat"/>
                <a:sym typeface="Montserrat"/>
              </a:rPr>
              <a:t>JDBC drivers for SQL</a:t>
            </a:r>
          </a:p>
          <a:p>
            <a:pPr marL="435405" lvl="1" indent="-217703" algn="l">
              <a:lnSpc>
                <a:spcPts val="2299"/>
              </a:lnSpc>
              <a:buFont typeface="Arial"/>
              <a:buChar char="•"/>
            </a:pPr>
            <a:r>
              <a:rPr lang="en-US" sz="2016">
                <a:solidFill>
                  <a:srgbClr val="240960"/>
                </a:solidFill>
                <a:latin typeface="Montserrat"/>
                <a:ea typeface="Montserrat"/>
                <a:cs typeface="Montserrat"/>
                <a:sym typeface="Montserrat"/>
              </a:rPr>
              <a:t>MongoDB Wire Protocol</a:t>
            </a:r>
          </a:p>
          <a:p>
            <a:pPr marL="435405" lvl="1" indent="-217703" algn="l">
              <a:lnSpc>
                <a:spcPts val="2299"/>
              </a:lnSpc>
              <a:buFont typeface="Arial"/>
              <a:buChar char="•"/>
            </a:pPr>
            <a:r>
              <a:rPr lang="en-US" sz="2016">
                <a:solidFill>
                  <a:srgbClr val="240960"/>
                </a:solidFill>
                <a:latin typeface="Montserrat"/>
                <a:ea typeface="Montserrat"/>
                <a:cs typeface="Montserrat"/>
                <a:sym typeface="Montserrat"/>
              </a:rPr>
              <a:t>Neo4j Bolt Protocol</a:t>
            </a:r>
          </a:p>
          <a:p>
            <a:pPr marL="435405" lvl="1" indent="-217703" algn="l">
              <a:lnSpc>
                <a:spcPts val="2299"/>
              </a:lnSpc>
              <a:buFont typeface="Arial"/>
              <a:buChar char="•"/>
            </a:pPr>
            <a:r>
              <a:rPr lang="en-US" sz="2016">
                <a:solidFill>
                  <a:srgbClr val="240960"/>
                </a:solidFill>
                <a:latin typeface="Montserrat"/>
                <a:ea typeface="Montserrat"/>
                <a:cs typeface="Montserrat"/>
                <a:sym typeface="Montserrat"/>
              </a:rPr>
              <a:t>WebClient for Async External APIs</a:t>
            </a:r>
          </a:p>
        </p:txBody>
      </p:sp>
      <p:grpSp>
        <p:nvGrpSpPr>
          <p:cNvPr id="37" name="Group 37"/>
          <p:cNvGrpSpPr/>
          <p:nvPr/>
        </p:nvGrpSpPr>
        <p:grpSpPr>
          <a:xfrm>
            <a:off x="12661323" y="5038171"/>
            <a:ext cx="246681" cy="246681"/>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txBody>
            <a:bodyPr/>
            <a:lstStyle/>
            <a:p>
              <a:endParaRPr lang="en-IN"/>
            </a:p>
          </p:txBody>
        </p:sp>
        <p:sp>
          <p:nvSpPr>
            <p:cNvPr id="39" name="TextBox 3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13128915" y="5055844"/>
            <a:ext cx="2701070" cy="544293"/>
          </a:xfrm>
          <a:prstGeom prst="rect">
            <a:avLst/>
          </a:prstGeom>
        </p:spPr>
        <p:txBody>
          <a:bodyPr lIns="0" tIns="0" rIns="0" bIns="0" rtlCol="0" anchor="t">
            <a:spAutoFit/>
          </a:bodyPr>
          <a:lstStyle/>
          <a:p>
            <a:pPr algn="l">
              <a:lnSpc>
                <a:spcPts val="2019"/>
              </a:lnSpc>
            </a:pPr>
            <a:r>
              <a:rPr lang="en-US" sz="2524" b="1">
                <a:solidFill>
                  <a:srgbClr val="240960"/>
                </a:solidFill>
                <a:latin typeface="Montserrat Bold"/>
                <a:ea typeface="Montserrat Bold"/>
                <a:cs typeface="Montserrat Bold"/>
                <a:sym typeface="Montserrat Bold"/>
              </a:rPr>
              <a:t>Database Protocols</a:t>
            </a:r>
          </a:p>
        </p:txBody>
      </p:sp>
      <p:grpSp>
        <p:nvGrpSpPr>
          <p:cNvPr id="41" name="Group 41"/>
          <p:cNvGrpSpPr/>
          <p:nvPr/>
        </p:nvGrpSpPr>
        <p:grpSpPr>
          <a:xfrm>
            <a:off x="82681" y="3005603"/>
            <a:ext cx="1892038" cy="1892038"/>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txBody>
            <a:bodyPr/>
            <a:lstStyle/>
            <a:p>
              <a:endParaRPr lang="en-IN"/>
            </a:p>
          </p:txBody>
        </p:sp>
        <p:sp>
          <p:nvSpPr>
            <p:cNvPr id="43" name="TextBox 4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4" name="Freeform 44"/>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45" name="TextBox 45"/>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236831" y="2303914"/>
            <a:ext cx="2414254" cy="241425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73853" y="3956317"/>
            <a:ext cx="8802593" cy="5025758"/>
          </a:xfrm>
          <a:prstGeom prst="rect">
            <a:avLst/>
          </a:prstGeom>
        </p:spPr>
        <p:txBody>
          <a:bodyPr lIns="0" tIns="0" rIns="0" bIns="0" rtlCol="0" anchor="t">
            <a:spAutoFit/>
          </a:bodyPr>
          <a:lstStyle/>
          <a:p>
            <a:pPr marL="442235" lvl="1" indent="-221117" algn="l">
              <a:lnSpc>
                <a:spcPts val="2335"/>
              </a:lnSpc>
              <a:buFont typeface="Arial"/>
              <a:buChar char="•"/>
            </a:pPr>
            <a:r>
              <a:rPr lang="en-US" sz="2048" b="1" dirty="0">
                <a:solidFill>
                  <a:srgbClr val="240960"/>
                </a:solidFill>
                <a:latin typeface="Montserrat Bold"/>
                <a:ea typeface="Montserrat Bold"/>
                <a:cs typeface="Montserrat Bold"/>
                <a:sym typeface="Montserrat Bold"/>
              </a:rPr>
              <a:t>Security Actor</a:t>
            </a:r>
            <a:r>
              <a:rPr lang="en-US" sz="2048" dirty="0">
                <a:solidFill>
                  <a:srgbClr val="240960"/>
                </a:solidFill>
                <a:latin typeface="Montserrat"/>
                <a:ea typeface="Montserrat"/>
                <a:cs typeface="Montserrat"/>
                <a:sym typeface="Montserrat"/>
              </a:rPr>
              <a:t> </a:t>
            </a:r>
            <a:r>
              <a:rPr lang="en-US" sz="2048" b="1" dirty="0">
                <a:solidFill>
                  <a:srgbClr val="240960"/>
                </a:solidFill>
                <a:latin typeface="Montserrat Bold"/>
                <a:ea typeface="Montserrat Bold"/>
                <a:cs typeface="Montserrat Bold"/>
                <a:sym typeface="Montserrat Bold"/>
              </a:rPr>
              <a:t>-</a:t>
            </a:r>
            <a:r>
              <a:rPr lang="en-US" sz="2048" dirty="0">
                <a:solidFill>
                  <a:srgbClr val="240960"/>
                </a:solidFill>
                <a:latin typeface="Montserrat"/>
                <a:ea typeface="Montserrat"/>
                <a:cs typeface="Montserrat"/>
                <a:sym typeface="Montserrat"/>
              </a:rPr>
              <a:t>  connected to </a:t>
            </a:r>
            <a:r>
              <a:rPr lang="en-US" sz="2048" dirty="0" err="1">
                <a:solidFill>
                  <a:srgbClr val="240960"/>
                </a:solidFill>
                <a:latin typeface="Montserrat"/>
                <a:ea typeface="Montserrat"/>
                <a:cs typeface="Montserrat"/>
                <a:sym typeface="Montserrat"/>
              </a:rPr>
              <a:t>UserSessionManager</a:t>
            </a:r>
            <a:r>
              <a:rPr lang="en-US" sz="2048" dirty="0">
                <a:solidFill>
                  <a:srgbClr val="240960"/>
                </a:solidFill>
                <a:latin typeface="Montserrat"/>
                <a:ea typeface="Montserrat"/>
                <a:cs typeface="Montserrat"/>
                <a:sym typeface="Montserrat"/>
              </a:rPr>
              <a:t> for session validation</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UserSessionManager</a:t>
            </a:r>
            <a:r>
              <a:rPr lang="en-US" sz="2048" dirty="0">
                <a:solidFill>
                  <a:srgbClr val="240960"/>
                </a:solidFill>
                <a:latin typeface="Montserrat"/>
                <a:ea typeface="Montserrat"/>
                <a:cs typeface="Montserrat"/>
                <a:sym typeface="Montserrat"/>
              </a:rPr>
              <a:t> </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connected to </a:t>
            </a:r>
            <a:r>
              <a:rPr lang="en-US" sz="2048" dirty="0" err="1">
                <a:solidFill>
                  <a:srgbClr val="240960"/>
                </a:solidFill>
                <a:latin typeface="Montserrat"/>
                <a:ea typeface="Montserrat"/>
                <a:cs typeface="Montserrat"/>
                <a:sym typeface="Montserrat"/>
              </a:rPr>
              <a:t>SecurityActor</a:t>
            </a:r>
            <a:r>
              <a:rPr lang="en-US" sz="2048" dirty="0">
                <a:solidFill>
                  <a:srgbClr val="240960"/>
                </a:solidFill>
                <a:latin typeface="Montserrat"/>
                <a:ea typeface="Montserrat"/>
                <a:cs typeface="Montserrat"/>
                <a:sym typeface="Montserrat"/>
              </a:rPr>
              <a:t> for authentication</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DatabaseCommunicationManager</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 connected to </a:t>
            </a:r>
            <a:r>
              <a:rPr lang="en-US" sz="2048" dirty="0" err="1">
                <a:solidFill>
                  <a:srgbClr val="240960"/>
                </a:solidFill>
                <a:latin typeface="Montserrat"/>
                <a:ea typeface="Montserrat"/>
                <a:cs typeface="Montserrat"/>
                <a:sym typeface="Montserrat"/>
              </a:rPr>
              <a:t>SchemaAnalysisActor</a:t>
            </a:r>
            <a:r>
              <a:rPr lang="en-US" sz="2048" dirty="0">
                <a:solidFill>
                  <a:srgbClr val="240960"/>
                </a:solidFill>
                <a:latin typeface="Montserrat"/>
                <a:ea typeface="Montserrat"/>
                <a:cs typeface="Montserrat"/>
                <a:sym typeface="Montserrat"/>
              </a:rPr>
              <a:t> for schema analysis workflows</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LLMOrchestrator</a:t>
            </a:r>
            <a:r>
              <a:rPr lang="en-US" sz="2048" b="1" dirty="0">
                <a:solidFill>
                  <a:srgbClr val="240960"/>
                </a:solidFill>
                <a:latin typeface="Montserrat Bold"/>
                <a:ea typeface="Montserrat Bold"/>
                <a:cs typeface="Montserrat Bold"/>
                <a:sym typeface="Montserrat Bold"/>
              </a:rPr>
              <a:t> - </a:t>
            </a:r>
            <a:r>
              <a:rPr lang="en-US" sz="2048" dirty="0">
                <a:solidFill>
                  <a:srgbClr val="240960"/>
                </a:solidFill>
                <a:latin typeface="Montserrat"/>
                <a:ea typeface="Montserrat"/>
                <a:cs typeface="Montserrat"/>
                <a:sym typeface="Montserrat"/>
              </a:rPr>
              <a:t>connected to </a:t>
            </a:r>
            <a:r>
              <a:rPr lang="en-US" sz="2048" dirty="0" err="1">
                <a:solidFill>
                  <a:srgbClr val="240960"/>
                </a:solidFill>
                <a:latin typeface="Montserrat"/>
                <a:ea typeface="Montserrat"/>
                <a:cs typeface="Montserrat"/>
                <a:sym typeface="Montserrat"/>
              </a:rPr>
              <a:t>LLMActor</a:t>
            </a:r>
            <a:r>
              <a:rPr lang="en-US" sz="2048" dirty="0">
                <a:solidFill>
                  <a:srgbClr val="240960"/>
                </a:solidFill>
                <a:latin typeface="Montserrat"/>
                <a:ea typeface="Montserrat"/>
                <a:cs typeface="Montserrat"/>
                <a:sym typeface="Montserrat"/>
              </a:rPr>
              <a:t> for message processing</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LLMActor</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 connected to </a:t>
            </a:r>
            <a:r>
              <a:rPr lang="en-US" sz="2048" dirty="0" err="1">
                <a:solidFill>
                  <a:srgbClr val="240960"/>
                </a:solidFill>
                <a:latin typeface="Montserrat"/>
                <a:ea typeface="Montserrat"/>
                <a:cs typeface="Montserrat"/>
                <a:sym typeface="Montserrat"/>
              </a:rPr>
              <a:t>QueryGenerationActor</a:t>
            </a:r>
            <a:r>
              <a:rPr lang="en-US" sz="2048" dirty="0">
                <a:solidFill>
                  <a:srgbClr val="240960"/>
                </a:solidFill>
                <a:latin typeface="Montserrat"/>
                <a:ea typeface="Montserrat"/>
                <a:cs typeface="Montserrat"/>
                <a:sym typeface="Montserrat"/>
              </a:rPr>
              <a:t> to generate database queries and connected to </a:t>
            </a:r>
            <a:r>
              <a:rPr lang="en-US" sz="2048" dirty="0" err="1">
                <a:solidFill>
                  <a:srgbClr val="240960"/>
                </a:solidFill>
                <a:latin typeface="Montserrat"/>
                <a:ea typeface="Montserrat"/>
                <a:cs typeface="Montserrat"/>
                <a:sym typeface="Montserrat"/>
              </a:rPr>
              <a:t>LLMOrchestrator</a:t>
            </a:r>
            <a:r>
              <a:rPr lang="en-US" sz="2048" dirty="0">
                <a:solidFill>
                  <a:srgbClr val="240960"/>
                </a:solidFill>
                <a:latin typeface="Montserrat"/>
                <a:ea typeface="Montserrat"/>
                <a:cs typeface="Montserrat"/>
                <a:sym typeface="Montserrat"/>
              </a:rPr>
              <a:t> for coordination of conversations</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QueryGenerationActor</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 connected to </a:t>
            </a:r>
            <a:r>
              <a:rPr lang="en-US" sz="2048" dirty="0" err="1">
                <a:solidFill>
                  <a:srgbClr val="240960"/>
                </a:solidFill>
                <a:latin typeface="Montserrat"/>
                <a:ea typeface="Montserrat"/>
                <a:cs typeface="Montserrat"/>
                <a:sym typeface="Montserrat"/>
              </a:rPr>
              <a:t>LLMActor</a:t>
            </a:r>
            <a:r>
              <a:rPr lang="en-US" sz="2048" dirty="0">
                <a:solidFill>
                  <a:srgbClr val="240960"/>
                </a:solidFill>
                <a:latin typeface="Montserrat"/>
                <a:ea typeface="Montserrat"/>
                <a:cs typeface="Montserrat"/>
                <a:sym typeface="Montserrat"/>
              </a:rPr>
              <a:t> to receive processing requests</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QueryExecutorActor</a:t>
            </a:r>
            <a:r>
              <a:rPr lang="en-US" sz="2048" b="1" dirty="0">
                <a:solidFill>
                  <a:srgbClr val="240960"/>
                </a:solidFill>
                <a:latin typeface="Montserrat Bold"/>
                <a:ea typeface="Montserrat Bold"/>
                <a:cs typeface="Montserrat Bold"/>
                <a:sym typeface="Montserrat Bold"/>
              </a:rPr>
              <a:t> - </a:t>
            </a:r>
            <a:r>
              <a:rPr lang="en-US" sz="2048" dirty="0">
                <a:solidFill>
                  <a:srgbClr val="240960"/>
                </a:solidFill>
                <a:latin typeface="Montserrat"/>
                <a:ea typeface="Montserrat"/>
                <a:cs typeface="Montserrat"/>
                <a:sym typeface="Montserrat"/>
              </a:rPr>
              <a:t>connects to AI agents to execute queries</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SchemaAnalysisActor</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 connected to </a:t>
            </a:r>
            <a:r>
              <a:rPr lang="en-US" sz="2048" dirty="0" err="1">
                <a:solidFill>
                  <a:srgbClr val="240960"/>
                </a:solidFill>
                <a:latin typeface="Montserrat"/>
                <a:ea typeface="Montserrat"/>
                <a:cs typeface="Montserrat"/>
                <a:sym typeface="Montserrat"/>
              </a:rPr>
              <a:t>DatabaseCommunicationManager</a:t>
            </a:r>
            <a:r>
              <a:rPr lang="en-US" sz="2048" dirty="0">
                <a:solidFill>
                  <a:srgbClr val="240960"/>
                </a:solidFill>
                <a:latin typeface="Montserrat"/>
                <a:ea typeface="Montserrat"/>
                <a:cs typeface="Montserrat"/>
                <a:sym typeface="Montserrat"/>
              </a:rPr>
              <a:t> for database access</a:t>
            </a:r>
          </a:p>
          <a:p>
            <a:pPr marL="442235" lvl="1" indent="-221117" algn="l">
              <a:lnSpc>
                <a:spcPts val="2335"/>
              </a:lnSpc>
              <a:buFont typeface="Arial"/>
              <a:buChar char="•"/>
            </a:pPr>
            <a:r>
              <a:rPr lang="en-US" sz="2048" b="1" dirty="0" err="1">
                <a:solidFill>
                  <a:srgbClr val="240960"/>
                </a:solidFill>
                <a:latin typeface="Montserrat Bold"/>
                <a:ea typeface="Montserrat Bold"/>
                <a:cs typeface="Montserrat Bold"/>
                <a:sym typeface="Montserrat Bold"/>
              </a:rPr>
              <a:t>VectorizationActor</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&amp; </a:t>
            </a:r>
            <a:r>
              <a:rPr lang="en-US" sz="2048" b="1" dirty="0" err="1">
                <a:solidFill>
                  <a:srgbClr val="240960"/>
                </a:solidFill>
                <a:latin typeface="Montserrat Bold"/>
                <a:ea typeface="Montserrat Bold"/>
                <a:cs typeface="Montserrat Bold"/>
                <a:sym typeface="Montserrat Bold"/>
              </a:rPr>
              <a:t>GraphActor</a:t>
            </a:r>
            <a:r>
              <a:rPr lang="en-US" sz="2048" b="1" dirty="0">
                <a:solidFill>
                  <a:srgbClr val="240960"/>
                </a:solidFill>
                <a:latin typeface="Montserrat Bold"/>
                <a:ea typeface="Montserrat Bold"/>
                <a:cs typeface="Montserrat Bold"/>
                <a:sym typeface="Montserrat Bold"/>
              </a:rPr>
              <a:t> -</a:t>
            </a:r>
            <a:r>
              <a:rPr lang="en-US" sz="2048" dirty="0">
                <a:solidFill>
                  <a:srgbClr val="240960"/>
                </a:solidFill>
                <a:latin typeface="Montserrat"/>
                <a:ea typeface="Montserrat"/>
                <a:cs typeface="Montserrat"/>
                <a:sym typeface="Montserrat"/>
              </a:rPr>
              <a:t> connects to AI agents</a:t>
            </a:r>
          </a:p>
        </p:txBody>
      </p:sp>
      <p:grpSp>
        <p:nvGrpSpPr>
          <p:cNvPr id="7" name="Group 7"/>
          <p:cNvGrpSpPr/>
          <p:nvPr/>
        </p:nvGrpSpPr>
        <p:grpSpPr>
          <a:xfrm>
            <a:off x="9476446" y="1521918"/>
            <a:ext cx="3185721" cy="318572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11" name="Freeform 11"/>
          <p:cNvSpPr/>
          <p:nvPr/>
        </p:nvSpPr>
        <p:spPr>
          <a:xfrm>
            <a:off x="9659998" y="2332387"/>
            <a:ext cx="8464938" cy="5910769"/>
          </a:xfrm>
          <a:custGeom>
            <a:avLst/>
            <a:gdLst/>
            <a:ahLst/>
            <a:cxnLst/>
            <a:rect l="l" t="t" r="r" b="b"/>
            <a:pathLst>
              <a:path w="8464938" h="5910769">
                <a:moveTo>
                  <a:pt x="0" y="0"/>
                </a:moveTo>
                <a:lnTo>
                  <a:pt x="8464938" y="0"/>
                </a:lnTo>
                <a:lnTo>
                  <a:pt x="8464938" y="5910769"/>
                </a:lnTo>
                <a:lnTo>
                  <a:pt x="0" y="5910769"/>
                </a:lnTo>
                <a:lnTo>
                  <a:pt x="0" y="0"/>
                </a:lnTo>
                <a:close/>
              </a:path>
            </a:pathLst>
          </a:custGeom>
          <a:blipFill>
            <a:blip r:embed="rId5"/>
            <a:stretch>
              <a:fillRect/>
            </a:stretch>
          </a:blipFill>
        </p:spPr>
        <p:txBody>
          <a:bodyPr/>
          <a:lstStyle/>
          <a:p>
            <a:endParaRPr lang="en-IN"/>
          </a:p>
        </p:txBody>
      </p:sp>
      <p:sp>
        <p:nvSpPr>
          <p:cNvPr id="12" name="TextBox 12"/>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13" name="TextBox 13"/>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14" name="TextBox 14"/>
          <p:cNvSpPr txBox="1"/>
          <p:nvPr/>
        </p:nvSpPr>
        <p:spPr>
          <a:xfrm>
            <a:off x="16774314" y="9473025"/>
            <a:ext cx="484986" cy="241636"/>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09</a:t>
            </a:r>
          </a:p>
        </p:txBody>
      </p:sp>
      <p:sp>
        <p:nvSpPr>
          <p:cNvPr id="15" name="TextBox 15"/>
          <p:cNvSpPr txBox="1"/>
          <p:nvPr/>
        </p:nvSpPr>
        <p:spPr>
          <a:xfrm>
            <a:off x="711952" y="2071707"/>
            <a:ext cx="2928301" cy="772394"/>
          </a:xfrm>
          <a:prstGeom prst="rect">
            <a:avLst/>
          </a:prstGeom>
        </p:spPr>
        <p:txBody>
          <a:bodyPr wrap="square" lIns="0" tIns="0" rIns="0" bIns="0" rtlCol="0" anchor="t">
            <a:spAutoFit/>
          </a:bodyPr>
          <a:lstStyle/>
          <a:p>
            <a:pPr algn="l">
              <a:lnSpc>
                <a:spcPts val="5467"/>
              </a:lnSpc>
            </a:pPr>
            <a:r>
              <a:rPr lang="en-US" sz="6833" b="1" dirty="0">
                <a:solidFill>
                  <a:srgbClr val="240960"/>
                </a:solidFill>
                <a:latin typeface="Montserrat Bold"/>
                <a:ea typeface="Montserrat Bold"/>
                <a:cs typeface="Montserrat Bold"/>
                <a:sym typeface="Montserrat Bold"/>
              </a:rPr>
              <a:t>Actor</a:t>
            </a:r>
          </a:p>
        </p:txBody>
      </p:sp>
      <p:sp>
        <p:nvSpPr>
          <p:cNvPr id="16" name="TextBox 16"/>
          <p:cNvSpPr txBox="1"/>
          <p:nvPr/>
        </p:nvSpPr>
        <p:spPr>
          <a:xfrm>
            <a:off x="673853" y="2801085"/>
            <a:ext cx="7587087" cy="772394"/>
          </a:xfrm>
          <a:prstGeom prst="rect">
            <a:avLst/>
          </a:prstGeom>
        </p:spPr>
        <p:txBody>
          <a:bodyPr lIns="0" tIns="0" rIns="0" bIns="0" rtlCol="0" anchor="t">
            <a:spAutoFit/>
          </a:bodyPr>
          <a:lstStyle/>
          <a:p>
            <a:pPr algn="l">
              <a:lnSpc>
                <a:spcPts val="5467"/>
              </a:lnSpc>
            </a:pPr>
            <a:r>
              <a:rPr lang="en-US" sz="6833">
                <a:solidFill>
                  <a:srgbClr val="240960"/>
                </a:solidFill>
                <a:latin typeface="Montserrat"/>
                <a:ea typeface="Montserrat"/>
                <a:cs typeface="Montserrat"/>
                <a:sym typeface="Montserrat"/>
              </a:rPr>
              <a:t>Communications</a:t>
            </a:r>
          </a:p>
        </p:txBody>
      </p:sp>
      <p:sp>
        <p:nvSpPr>
          <p:cNvPr id="17" name="TextBox 17"/>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236831" y="2303914"/>
            <a:ext cx="2414254" cy="241425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252862" y="3920962"/>
            <a:ext cx="11782277" cy="3550139"/>
          </a:xfrm>
          <a:prstGeom prst="rect">
            <a:avLst/>
          </a:prstGeom>
        </p:spPr>
        <p:txBody>
          <a:bodyPr lIns="0" tIns="0" rIns="0" bIns="0" rtlCol="0" anchor="t">
            <a:spAutoFit/>
          </a:bodyPr>
          <a:lstStyle/>
          <a:p>
            <a:pPr marL="488133" lvl="1" indent="-244066" algn="l">
              <a:lnSpc>
                <a:spcPts val="3459"/>
              </a:lnSpc>
              <a:buFont typeface="Arial"/>
              <a:buChar char="•"/>
            </a:pPr>
            <a:r>
              <a:rPr lang="en-US" sz="2260" spc="38" dirty="0">
                <a:solidFill>
                  <a:srgbClr val="240960"/>
                </a:solidFill>
                <a:latin typeface="Montserrat"/>
                <a:ea typeface="Montserrat"/>
                <a:cs typeface="Montserrat"/>
                <a:sym typeface="Montserrat"/>
              </a:rPr>
              <a:t>Extend support to more database systems</a:t>
            </a:r>
          </a:p>
          <a:p>
            <a:pPr marL="488133" lvl="1" indent="-244066" algn="l">
              <a:lnSpc>
                <a:spcPts val="3459"/>
              </a:lnSpc>
              <a:buFont typeface="Arial"/>
              <a:buChar char="•"/>
            </a:pPr>
            <a:r>
              <a:rPr lang="en-US" sz="2260" spc="38" dirty="0">
                <a:solidFill>
                  <a:srgbClr val="240960"/>
                </a:solidFill>
                <a:latin typeface="Montserrat"/>
                <a:ea typeface="Montserrat"/>
                <a:cs typeface="Montserrat"/>
                <a:sym typeface="Montserrat"/>
              </a:rPr>
              <a:t>Fine-tune LLM to maintain longer and clearer context</a:t>
            </a:r>
          </a:p>
          <a:p>
            <a:pPr marL="488133" lvl="1" indent="-244066" algn="l">
              <a:lnSpc>
                <a:spcPts val="3459"/>
              </a:lnSpc>
              <a:buFont typeface="Arial"/>
              <a:buChar char="•"/>
            </a:pPr>
            <a:r>
              <a:rPr lang="en-US" sz="2260" spc="38" dirty="0">
                <a:solidFill>
                  <a:srgbClr val="240960"/>
                </a:solidFill>
                <a:latin typeface="Montserrat"/>
                <a:ea typeface="Montserrat"/>
                <a:cs typeface="Montserrat"/>
                <a:sym typeface="Montserrat"/>
              </a:rPr>
              <a:t>Add more functionalities such as report generation, API pagination and response sharing</a:t>
            </a:r>
          </a:p>
          <a:p>
            <a:pPr marL="488133" lvl="1" indent="-244066" algn="l">
              <a:lnSpc>
                <a:spcPts val="3459"/>
              </a:lnSpc>
              <a:buFont typeface="Arial"/>
              <a:buChar char="•"/>
            </a:pPr>
            <a:r>
              <a:rPr lang="en-US" sz="2260" spc="38" dirty="0">
                <a:solidFill>
                  <a:srgbClr val="240960"/>
                </a:solidFill>
                <a:latin typeface="Montserrat"/>
                <a:ea typeface="Montserrat"/>
                <a:cs typeface="Montserrat"/>
                <a:sym typeface="Montserrat"/>
              </a:rPr>
              <a:t>Test the operation on various LLMs and prepare benchmarks to select the best LLM for the job</a:t>
            </a:r>
          </a:p>
          <a:p>
            <a:pPr marL="488133" lvl="1" indent="-244066" algn="l">
              <a:lnSpc>
                <a:spcPts val="3459"/>
              </a:lnSpc>
              <a:buFont typeface="Arial"/>
              <a:buChar char="•"/>
            </a:pPr>
            <a:r>
              <a:rPr lang="en-US" sz="2260" spc="38" dirty="0">
                <a:solidFill>
                  <a:srgbClr val="240960"/>
                </a:solidFill>
                <a:latin typeface="Montserrat"/>
                <a:ea typeface="Montserrat"/>
                <a:cs typeface="Montserrat"/>
                <a:sym typeface="Montserrat"/>
              </a:rPr>
              <a:t>Add a caching layer for quick retrieval of the data</a:t>
            </a:r>
          </a:p>
          <a:p>
            <a:pPr marL="488133" lvl="1" indent="-244066" algn="l">
              <a:lnSpc>
                <a:spcPts val="3459"/>
              </a:lnSpc>
              <a:buFont typeface="Arial"/>
              <a:buChar char="•"/>
            </a:pPr>
            <a:r>
              <a:rPr lang="en-US" sz="2260" spc="38" dirty="0">
                <a:solidFill>
                  <a:srgbClr val="240960"/>
                </a:solidFill>
                <a:latin typeface="Montserrat"/>
                <a:ea typeface="Montserrat"/>
                <a:cs typeface="Montserrat"/>
                <a:sym typeface="Montserrat"/>
              </a:rPr>
              <a:t>Add chat persistence to enhance </a:t>
            </a:r>
            <a:r>
              <a:rPr lang="en-US" sz="2260" spc="38">
                <a:solidFill>
                  <a:srgbClr val="240960"/>
                </a:solidFill>
                <a:latin typeface="Montserrat"/>
                <a:ea typeface="Montserrat"/>
                <a:cs typeface="Montserrat"/>
                <a:sym typeface="Montserrat"/>
              </a:rPr>
              <a:t>context management </a:t>
            </a:r>
            <a:r>
              <a:rPr lang="en-US" sz="2260" spc="38" dirty="0">
                <a:solidFill>
                  <a:srgbClr val="240960"/>
                </a:solidFill>
                <a:latin typeface="Montserrat"/>
                <a:ea typeface="Montserrat"/>
                <a:cs typeface="Montserrat"/>
                <a:sym typeface="Montserrat"/>
              </a:rPr>
              <a:t>across sessions</a:t>
            </a:r>
          </a:p>
        </p:txBody>
      </p:sp>
      <p:grpSp>
        <p:nvGrpSpPr>
          <p:cNvPr id="7" name="Group 7"/>
          <p:cNvGrpSpPr/>
          <p:nvPr/>
        </p:nvGrpSpPr>
        <p:grpSpPr>
          <a:xfrm>
            <a:off x="9476446" y="1521918"/>
            <a:ext cx="3185721" cy="318572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4"/>
            <a:stretch>
              <a:fillRect/>
            </a:stretch>
          </a:blipFill>
        </p:spPr>
        <p:txBody>
          <a:bodyPr/>
          <a:lstStyle/>
          <a:p>
            <a:endParaRPr lang="en-IN"/>
          </a:p>
        </p:txBody>
      </p:sp>
      <p:sp>
        <p:nvSpPr>
          <p:cNvPr id="11" name="TextBox 11"/>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12" name="TextBox 12"/>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13" name="TextBox 13"/>
          <p:cNvSpPr txBox="1"/>
          <p:nvPr/>
        </p:nvSpPr>
        <p:spPr>
          <a:xfrm>
            <a:off x="16774314" y="9473025"/>
            <a:ext cx="484986" cy="241636"/>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09</a:t>
            </a:r>
          </a:p>
        </p:txBody>
      </p:sp>
      <p:sp>
        <p:nvSpPr>
          <p:cNvPr id="14" name="TextBox 14"/>
          <p:cNvSpPr txBox="1"/>
          <p:nvPr/>
        </p:nvSpPr>
        <p:spPr>
          <a:xfrm>
            <a:off x="7391882" y="1804359"/>
            <a:ext cx="3504233" cy="766255"/>
          </a:xfrm>
          <a:prstGeom prst="rect">
            <a:avLst/>
          </a:prstGeom>
        </p:spPr>
        <p:txBody>
          <a:bodyPr wrap="square" lIns="0" tIns="0" rIns="0" bIns="0" rtlCol="0" anchor="t">
            <a:spAutoFit/>
          </a:bodyPr>
          <a:lstStyle/>
          <a:p>
            <a:pPr algn="ctr">
              <a:lnSpc>
                <a:spcPts val="5467"/>
              </a:lnSpc>
            </a:pPr>
            <a:r>
              <a:rPr lang="en-US" sz="6833" b="1" dirty="0">
                <a:solidFill>
                  <a:srgbClr val="240960"/>
                </a:solidFill>
                <a:latin typeface="Montserrat Bold"/>
                <a:ea typeface="Montserrat Bold"/>
                <a:cs typeface="Montserrat Bold"/>
                <a:sym typeface="Montserrat Bold"/>
              </a:rPr>
              <a:t>Future</a:t>
            </a:r>
          </a:p>
        </p:txBody>
      </p:sp>
      <p:sp>
        <p:nvSpPr>
          <p:cNvPr id="15" name="TextBox 15"/>
          <p:cNvSpPr txBox="1"/>
          <p:nvPr/>
        </p:nvSpPr>
        <p:spPr>
          <a:xfrm>
            <a:off x="5350456" y="2570614"/>
            <a:ext cx="7587087" cy="766255"/>
          </a:xfrm>
          <a:prstGeom prst="rect">
            <a:avLst/>
          </a:prstGeom>
        </p:spPr>
        <p:txBody>
          <a:bodyPr lIns="0" tIns="0" rIns="0" bIns="0" rtlCol="0" anchor="t">
            <a:spAutoFit/>
          </a:bodyPr>
          <a:lstStyle/>
          <a:p>
            <a:pPr algn="ctr">
              <a:lnSpc>
                <a:spcPts val="5467"/>
              </a:lnSpc>
            </a:pPr>
            <a:r>
              <a:rPr lang="en-US" sz="6833">
                <a:solidFill>
                  <a:srgbClr val="240960"/>
                </a:solidFill>
                <a:latin typeface="Montserrat"/>
                <a:ea typeface="Montserrat"/>
                <a:cs typeface="Montserrat"/>
                <a:sym typeface="Montserrat"/>
              </a:rPr>
              <a:t>Enhancements</a:t>
            </a:r>
          </a:p>
        </p:txBody>
      </p:sp>
      <p:sp>
        <p:nvSpPr>
          <p:cNvPr id="16" name="TextBox 16"/>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4889840" y="2149955"/>
            <a:ext cx="2999351" cy="29993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5233203" y="3316034"/>
            <a:ext cx="7055617" cy="1543690"/>
          </a:xfrm>
          <a:prstGeom prst="rect">
            <a:avLst/>
          </a:prstGeom>
        </p:spPr>
        <p:txBody>
          <a:bodyPr lIns="0" tIns="0" rIns="0" bIns="0" rtlCol="0" anchor="t">
            <a:spAutoFit/>
          </a:bodyPr>
          <a:lstStyle/>
          <a:p>
            <a:pPr algn="ctr">
              <a:lnSpc>
                <a:spcPts val="10828"/>
              </a:lnSpc>
            </a:pPr>
            <a:r>
              <a:rPr lang="en-US" sz="13535" b="1">
                <a:solidFill>
                  <a:srgbClr val="240960"/>
                </a:solidFill>
                <a:latin typeface="Montserrat Bold"/>
                <a:ea typeface="Montserrat Bold"/>
                <a:cs typeface="Montserrat Bold"/>
                <a:sym typeface="Montserrat Bold"/>
              </a:rPr>
              <a:t>Thank</a:t>
            </a:r>
          </a:p>
        </p:txBody>
      </p:sp>
      <p:sp>
        <p:nvSpPr>
          <p:cNvPr id="6" name="TextBox 6"/>
          <p:cNvSpPr txBox="1"/>
          <p:nvPr/>
        </p:nvSpPr>
        <p:spPr>
          <a:xfrm>
            <a:off x="6389516" y="4760679"/>
            <a:ext cx="4990576" cy="1543690"/>
          </a:xfrm>
          <a:prstGeom prst="rect">
            <a:avLst/>
          </a:prstGeom>
        </p:spPr>
        <p:txBody>
          <a:bodyPr lIns="0" tIns="0" rIns="0" bIns="0" rtlCol="0" anchor="t">
            <a:spAutoFit/>
          </a:bodyPr>
          <a:lstStyle/>
          <a:p>
            <a:pPr algn="ctr">
              <a:lnSpc>
                <a:spcPts val="10828"/>
              </a:lnSpc>
            </a:pPr>
            <a:r>
              <a:rPr lang="en-US" sz="13535">
                <a:solidFill>
                  <a:srgbClr val="240960"/>
                </a:solidFill>
                <a:latin typeface="Montserrat"/>
                <a:ea typeface="Montserrat"/>
                <a:cs typeface="Montserrat"/>
                <a:sym typeface="Montserrat"/>
              </a:rPr>
              <a:t>You.</a:t>
            </a:r>
          </a:p>
        </p:txBody>
      </p:sp>
      <p:grpSp>
        <p:nvGrpSpPr>
          <p:cNvPr id="7" name="Group 7"/>
          <p:cNvGrpSpPr/>
          <p:nvPr/>
        </p:nvGrpSpPr>
        <p:grpSpPr>
          <a:xfrm rot="-7357214">
            <a:off x="10690988" y="3451709"/>
            <a:ext cx="1931597" cy="193159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txBody>
            <a:bodyPr/>
            <a:lstStyle/>
            <a:p>
              <a:endParaRPr lang="en-IN"/>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412291" y="844114"/>
            <a:ext cx="847009" cy="286979"/>
          </a:xfrm>
          <a:prstGeom prst="rect">
            <a:avLst/>
          </a:prstGeom>
        </p:spPr>
        <p:txBody>
          <a:bodyPr lIns="0" tIns="0" rIns="0" bIns="0" rtlCol="0" anchor="t">
            <a:spAutoFit/>
          </a:bodyPr>
          <a:lstStyle/>
          <a:p>
            <a:pPr algn="l">
              <a:lnSpc>
                <a:spcPts val="2227"/>
              </a:lnSpc>
            </a:pPr>
            <a:r>
              <a:rPr lang="en-US" sz="2183" b="1">
                <a:solidFill>
                  <a:srgbClr val="240960"/>
                </a:solidFill>
                <a:latin typeface="Montserrat Bold"/>
                <a:ea typeface="Montserrat Bold"/>
                <a:cs typeface="Montserrat Bold"/>
                <a:sym typeface="Montserrat Bold"/>
              </a:rPr>
              <a:t>2025</a:t>
            </a:r>
          </a:p>
        </p:txBody>
      </p:sp>
      <p:sp>
        <p:nvSpPr>
          <p:cNvPr id="11" name="TextBox 11"/>
          <p:cNvSpPr txBox="1"/>
          <p:nvPr/>
        </p:nvSpPr>
        <p:spPr>
          <a:xfrm>
            <a:off x="16050268" y="9473025"/>
            <a:ext cx="724046"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Page</a:t>
            </a:r>
          </a:p>
        </p:txBody>
      </p:sp>
      <p:sp>
        <p:nvSpPr>
          <p:cNvPr id="12" name="TextBox 12"/>
          <p:cNvSpPr txBox="1"/>
          <p:nvPr/>
        </p:nvSpPr>
        <p:spPr>
          <a:xfrm>
            <a:off x="16774314" y="9473025"/>
            <a:ext cx="354591" cy="241636"/>
          </a:xfrm>
          <a:prstGeom prst="rect">
            <a:avLst/>
          </a:prstGeom>
        </p:spPr>
        <p:txBody>
          <a:bodyPr lIns="0" tIns="0" rIns="0" bIns="0" rtlCol="0" anchor="t">
            <a:spAutoFit/>
          </a:bodyPr>
          <a:lstStyle/>
          <a:p>
            <a:pPr algn="l">
              <a:lnSpc>
                <a:spcPts val="1859"/>
              </a:lnSpc>
            </a:pPr>
            <a:r>
              <a:rPr lang="en-US" sz="1822">
                <a:solidFill>
                  <a:srgbClr val="240960"/>
                </a:solidFill>
                <a:latin typeface="Montserrat"/>
                <a:ea typeface="Montserrat"/>
                <a:cs typeface="Montserrat"/>
                <a:sym typeface="Montserrat"/>
              </a:rPr>
              <a:t>10</a:t>
            </a:r>
          </a:p>
        </p:txBody>
      </p:sp>
      <p:sp>
        <p:nvSpPr>
          <p:cNvPr id="13" name="Freeform 13"/>
          <p:cNvSpPr/>
          <p:nvPr/>
        </p:nvSpPr>
        <p:spPr>
          <a:xfrm>
            <a:off x="1236329" y="625706"/>
            <a:ext cx="805989" cy="805989"/>
          </a:xfrm>
          <a:custGeom>
            <a:avLst/>
            <a:gdLst/>
            <a:ahLst/>
            <a:cxnLst/>
            <a:rect l="l" t="t" r="r" b="b"/>
            <a:pathLst>
              <a:path w="805989" h="805989">
                <a:moveTo>
                  <a:pt x="0" y="0"/>
                </a:moveTo>
                <a:lnTo>
                  <a:pt x="805989" y="0"/>
                </a:lnTo>
                <a:lnTo>
                  <a:pt x="805989" y="805988"/>
                </a:lnTo>
                <a:lnTo>
                  <a:pt x="0" y="805988"/>
                </a:lnTo>
                <a:lnTo>
                  <a:pt x="0" y="0"/>
                </a:lnTo>
                <a:close/>
              </a:path>
            </a:pathLst>
          </a:custGeom>
          <a:blipFill>
            <a:blip r:embed="rId2"/>
            <a:stretch>
              <a:fillRect/>
            </a:stretch>
          </a:blipFill>
        </p:spPr>
        <p:txBody>
          <a:bodyPr/>
          <a:lstStyle/>
          <a:p>
            <a:endParaRPr lang="en-IN"/>
          </a:p>
        </p:txBody>
      </p:sp>
      <p:sp>
        <p:nvSpPr>
          <p:cNvPr id="14" name="TextBox 14"/>
          <p:cNvSpPr txBox="1"/>
          <p:nvPr/>
        </p:nvSpPr>
        <p:spPr>
          <a:xfrm>
            <a:off x="2042318" y="921619"/>
            <a:ext cx="1194260" cy="242737"/>
          </a:xfrm>
          <a:prstGeom prst="rect">
            <a:avLst/>
          </a:prstGeom>
        </p:spPr>
        <p:txBody>
          <a:bodyPr lIns="0" tIns="0" rIns="0" bIns="0" rtlCol="0" anchor="t">
            <a:spAutoFit/>
          </a:bodyPr>
          <a:lstStyle/>
          <a:p>
            <a:pPr algn="l">
              <a:lnSpc>
                <a:spcPts val="1859"/>
              </a:lnSpc>
            </a:pPr>
            <a:r>
              <a:rPr lang="en-US" sz="1822" b="1">
                <a:solidFill>
                  <a:srgbClr val="240960"/>
                </a:solidFill>
                <a:latin typeface="Montserrat Bold"/>
                <a:ea typeface="Montserrat Bold"/>
                <a:cs typeface="Montserrat Bold"/>
                <a:sym typeface="Montserrat Bold"/>
              </a:rPr>
              <a:t>dbVybe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TotalTime>
  <Words>539</Words>
  <Application>Microsoft Office PowerPoint</Application>
  <PresentationFormat>Custom</PresentationFormat>
  <Paragraphs>109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Arial</vt:lpstr>
      <vt:lpstr>Montserrat Bold</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Modern Minimalist Business Development Presentation</dc:title>
  <cp:lastModifiedBy>Kartikey Vijayakumar Hebbar</cp:lastModifiedBy>
  <cp:revision>7</cp:revision>
  <dcterms:created xsi:type="dcterms:W3CDTF">2006-08-16T00:00:00Z</dcterms:created>
  <dcterms:modified xsi:type="dcterms:W3CDTF">2025-08-16T23:01:33Z</dcterms:modified>
  <dc:identifier>DAGwJiCncX0</dc:identifier>
</cp:coreProperties>
</file>